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Zilla Slab" panose="020B0604020202020204" charset="0"/>
      <p:regular r:id="rId11"/>
      <p:bold r:id="rId12"/>
      <p: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64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cf847ae7ea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cf847ae7ea_0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g3cf847ae7ea_0_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944880" y="2836506"/>
            <a:ext cx="9598712" cy="1942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944880" y="5108704"/>
            <a:ext cx="9144000" cy="605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19" name="Google Shape;1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4880" y="1041399"/>
            <a:ext cx="3151259" cy="686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4880" y="6334744"/>
            <a:ext cx="1725318" cy="3657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56135" y="0"/>
            <a:ext cx="435865" cy="432817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5" name="Google Shape;25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5002" y="6356350"/>
            <a:ext cx="1725318" cy="365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53800" y="5986785"/>
            <a:ext cx="539470" cy="617231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11624537" y="39525"/>
            <a:ext cx="53947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" name="Google Shape;28;p3"/>
          <p:cNvPicPr preferRelativeResize="0"/>
          <p:nvPr/>
        </p:nvPicPr>
        <p:blipFill rotWithShape="1">
          <a:blip r:embed="rId5">
            <a:alphaModFix amt="20000"/>
          </a:blip>
          <a:srcRect t="911" r="25323" b="911"/>
          <a:stretch/>
        </p:blipFill>
        <p:spPr>
          <a:xfrm>
            <a:off x="0" y="0"/>
            <a:ext cx="1216400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3"/>
          <p:cNvSpPr/>
          <p:nvPr/>
        </p:nvSpPr>
        <p:spPr>
          <a:xfrm>
            <a:off x="0" y="0"/>
            <a:ext cx="346364" cy="421972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0" y="4219720"/>
            <a:ext cx="346364" cy="263827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3"/>
          <p:cNvCxnSpPr/>
          <p:nvPr/>
        </p:nvCxnSpPr>
        <p:spPr>
          <a:xfrm>
            <a:off x="914400" y="6280030"/>
            <a:ext cx="1863306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56135" y="0"/>
            <a:ext cx="435865" cy="432817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rial"/>
              <a:buNone/>
              <a:defRPr sz="6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36" name="Google Shape;36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5002" y="6356350"/>
            <a:ext cx="1725318" cy="365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53800" y="5986785"/>
            <a:ext cx="539470" cy="617231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>
            <a:spLocks noGrp="1"/>
          </p:cNvSpPr>
          <p:nvPr>
            <p:ph type="sldNum" idx="12"/>
          </p:nvPr>
        </p:nvSpPr>
        <p:spPr>
          <a:xfrm>
            <a:off x="11624537" y="39525"/>
            <a:ext cx="53947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56135" y="0"/>
            <a:ext cx="435865" cy="432817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44" name="Google Shape;44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5002" y="6356350"/>
            <a:ext cx="1725318" cy="365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53800" y="5986785"/>
            <a:ext cx="539470" cy="617231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5"/>
          <p:cNvSpPr txBox="1">
            <a:spLocks noGrp="1"/>
          </p:cNvSpPr>
          <p:nvPr>
            <p:ph type="sldNum" idx="12"/>
          </p:nvPr>
        </p:nvSpPr>
        <p:spPr>
          <a:xfrm>
            <a:off x="11624537" y="39525"/>
            <a:ext cx="53947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56135" y="0"/>
            <a:ext cx="435865" cy="432817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 b="1">
                <a:solidFill>
                  <a:schemeClr val="lt2"/>
                </a:solidFill>
                <a:latin typeface="Zilla Slab"/>
                <a:ea typeface="Zilla Slab"/>
                <a:cs typeface="Zilla Slab"/>
                <a:sym typeface="Zilla Slab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 b="1">
                <a:solidFill>
                  <a:schemeClr val="lt2"/>
                </a:solidFill>
                <a:latin typeface="Zilla Slab"/>
                <a:ea typeface="Zilla Slab"/>
                <a:cs typeface="Zilla Slab"/>
                <a:sym typeface="Zilla Slab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3" name="Google Shape;53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54" name="Google Shape;54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5002" y="6356350"/>
            <a:ext cx="1725318" cy="365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53800" y="5986785"/>
            <a:ext cx="539470" cy="617231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6"/>
          <p:cNvSpPr txBox="1">
            <a:spLocks noGrp="1"/>
          </p:cNvSpPr>
          <p:nvPr>
            <p:ph type="sldNum" idx="12"/>
          </p:nvPr>
        </p:nvSpPr>
        <p:spPr>
          <a:xfrm>
            <a:off x="11624537" y="39525"/>
            <a:ext cx="53947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56135" y="0"/>
            <a:ext cx="435865" cy="432817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0" name="Google Shape;60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5002" y="6356350"/>
            <a:ext cx="1725318" cy="365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53800" y="5986785"/>
            <a:ext cx="539470" cy="617231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7"/>
          <p:cNvSpPr txBox="1">
            <a:spLocks noGrp="1"/>
          </p:cNvSpPr>
          <p:nvPr>
            <p:ph type="sldNum" idx="12"/>
          </p:nvPr>
        </p:nvSpPr>
        <p:spPr>
          <a:xfrm>
            <a:off x="11624537" y="39525"/>
            <a:ext cx="53947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56135" y="0"/>
            <a:ext cx="435865" cy="432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5002" y="6356350"/>
            <a:ext cx="1725318" cy="365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53800" y="5986785"/>
            <a:ext cx="539470" cy="617231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8"/>
          <p:cNvSpPr txBox="1">
            <a:spLocks noGrp="1"/>
          </p:cNvSpPr>
          <p:nvPr>
            <p:ph type="sldNum" idx="12"/>
          </p:nvPr>
        </p:nvSpPr>
        <p:spPr>
          <a:xfrm>
            <a:off x="11624537" y="39525"/>
            <a:ext cx="53947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56135" y="0"/>
            <a:ext cx="435865" cy="432817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112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73" name="Google Shape;73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5002" y="6356350"/>
            <a:ext cx="1725318" cy="365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53800" y="5986785"/>
            <a:ext cx="539470" cy="61723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9"/>
          <p:cNvSpPr txBox="1">
            <a:spLocks noGrp="1"/>
          </p:cNvSpPr>
          <p:nvPr>
            <p:ph type="sldNum" idx="12"/>
          </p:nvPr>
        </p:nvSpPr>
        <p:spPr>
          <a:xfrm>
            <a:off x="11624537" y="39525"/>
            <a:ext cx="53947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0"/>
          <p:cNvSpPr/>
          <p:nvPr/>
        </p:nvSpPr>
        <p:spPr>
          <a:xfrm>
            <a:off x="5076825" y="885825"/>
            <a:ext cx="6275387" cy="4983163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" name="Google Shape;78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56135" y="0"/>
            <a:ext cx="435865" cy="432817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112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0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065837" cy="4737100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10"/>
          <p:cNvSpPr txBox="1">
            <a:spLocks noGrp="1"/>
          </p:cNvSpPr>
          <p:nvPr>
            <p:ph type="body" idx="1"/>
          </p:nvPr>
        </p:nvSpPr>
        <p:spPr>
          <a:xfrm>
            <a:off x="839788" y="1578718"/>
            <a:ext cx="3932237" cy="4290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82" name="Google Shape;82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5002" y="6356350"/>
            <a:ext cx="1725318" cy="365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53800" y="5986785"/>
            <a:ext cx="539470" cy="617231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0"/>
          <p:cNvSpPr txBox="1">
            <a:spLocks noGrp="1"/>
          </p:cNvSpPr>
          <p:nvPr>
            <p:ph type="sldNum" idx="12"/>
          </p:nvPr>
        </p:nvSpPr>
        <p:spPr>
          <a:xfrm>
            <a:off x="11624537" y="39525"/>
            <a:ext cx="53947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56135" y="0"/>
            <a:ext cx="435865" cy="432817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89" name="Google Shape;89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5002" y="6356350"/>
            <a:ext cx="1725318" cy="365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53800" y="5986785"/>
            <a:ext cx="539470" cy="61723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1"/>
          <p:cNvSpPr txBox="1">
            <a:spLocks noGrp="1"/>
          </p:cNvSpPr>
          <p:nvPr>
            <p:ph type="sldNum" idx="12"/>
          </p:nvPr>
        </p:nvSpPr>
        <p:spPr>
          <a:xfrm>
            <a:off x="11624537" y="39525"/>
            <a:ext cx="53947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56135" y="0"/>
            <a:ext cx="435865" cy="432817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96" name="Google Shape;96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5002" y="6356350"/>
            <a:ext cx="1725318" cy="365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53800" y="5986785"/>
            <a:ext cx="539470" cy="61723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2"/>
          <p:cNvSpPr txBox="1">
            <a:spLocks noGrp="1"/>
          </p:cNvSpPr>
          <p:nvPr>
            <p:ph type="sldNum" idx="12"/>
          </p:nvPr>
        </p:nvSpPr>
        <p:spPr>
          <a:xfrm>
            <a:off x="11624537" y="39525"/>
            <a:ext cx="53947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solidFill>
          <a:schemeClr val="dk2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92362" y="3032254"/>
            <a:ext cx="342035" cy="376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9779" y="3926565"/>
            <a:ext cx="307200" cy="3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0775" y="4758611"/>
            <a:ext cx="405209" cy="4052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09779" y="5676372"/>
            <a:ext cx="3172854" cy="376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44880" y="1041399"/>
            <a:ext cx="4760571" cy="103756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3"/>
          <p:cNvSpPr txBox="1"/>
          <p:nvPr/>
        </p:nvSpPr>
        <p:spPr>
          <a:xfrm>
            <a:off x="1628774" y="3921043"/>
            <a:ext cx="8460106" cy="363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0731 3111500, 0731 3111501 </a:t>
            </a:r>
            <a:endParaRPr/>
          </a:p>
        </p:txBody>
      </p:sp>
      <p:sp>
        <p:nvSpPr>
          <p:cNvPr id="106" name="Google Shape;106;p13"/>
          <p:cNvSpPr txBox="1"/>
          <p:nvPr/>
        </p:nvSpPr>
        <p:spPr>
          <a:xfrm>
            <a:off x="1628774" y="4797553"/>
            <a:ext cx="8407400" cy="405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www.medicaps.ac.in</a:t>
            </a:r>
            <a:endParaRPr/>
          </a:p>
        </p:txBody>
      </p:sp>
      <p:sp>
        <p:nvSpPr>
          <p:cNvPr id="107" name="Google Shape;107;p13"/>
          <p:cNvSpPr txBox="1"/>
          <p:nvPr/>
        </p:nvSpPr>
        <p:spPr>
          <a:xfrm>
            <a:off x="1628774" y="3030245"/>
            <a:ext cx="8460106" cy="363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A.B. Road, Pigdamber, Rau, Indore – 453331 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4"/>
          <p:cNvSpPr txBox="1">
            <a:spLocks noGrp="1"/>
          </p:cNvSpPr>
          <p:nvPr>
            <p:ph type="ctrTitle"/>
          </p:nvPr>
        </p:nvSpPr>
        <p:spPr>
          <a:xfrm>
            <a:off x="944880" y="3906370"/>
            <a:ext cx="5624008" cy="872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-US"/>
              <a:t>Insert Text Here</a:t>
            </a:r>
            <a:endParaRPr/>
          </a:p>
        </p:txBody>
      </p:sp>
      <p:sp>
        <p:nvSpPr>
          <p:cNvPr id="114" name="Google Shape;114;p14"/>
          <p:cNvSpPr txBox="1">
            <a:spLocks noGrp="1"/>
          </p:cNvSpPr>
          <p:nvPr>
            <p:ph type="subTitle" idx="1"/>
          </p:nvPr>
        </p:nvSpPr>
        <p:spPr>
          <a:xfrm>
            <a:off x="944880" y="5108704"/>
            <a:ext cx="9144000" cy="605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r>
              <a:rPr lang="en-US"/>
              <a:t>Subtitle Goes Here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91269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Module Details-</a:t>
            </a:r>
            <a:endParaRPr dirty="0"/>
          </a:p>
        </p:txBody>
      </p:sp>
      <p:sp>
        <p:nvSpPr>
          <p:cNvPr id="121" name="Google Shape;121;p15"/>
          <p:cNvSpPr txBox="1">
            <a:spLocks noGrp="1"/>
          </p:cNvSpPr>
          <p:nvPr>
            <p:ph type="body" idx="1"/>
          </p:nvPr>
        </p:nvSpPr>
        <p:spPr>
          <a:xfrm>
            <a:off x="838200" y="1184031"/>
            <a:ext cx="10515600" cy="499279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114300" indent="0">
              <a:buNone/>
            </a:pPr>
            <a:r>
              <a:rPr lang="en-US" b="1" dirty="0"/>
              <a:t>a. Core Learning Data :</a:t>
            </a:r>
          </a:p>
          <a:p>
            <a:pPr marL="114300" indent="0">
              <a:buNone/>
            </a:pPr>
            <a:r>
              <a:rPr lang="en-US" b="1" dirty="0"/>
              <a:t>(Modules: Authentication, User Profile, Learning Item Management)</a:t>
            </a:r>
            <a:endParaRPr lang="en-US" dirty="0"/>
          </a:p>
          <a:p>
            <a:r>
              <a:rPr lang="en-US" b="1" dirty="0"/>
              <a:t>1. Authentication Module</a:t>
            </a:r>
          </a:p>
          <a:p>
            <a:r>
              <a:rPr lang="en-US" dirty="0"/>
              <a:t>Handles secure user registration and login</a:t>
            </a:r>
          </a:p>
          <a:p>
            <a:r>
              <a:rPr lang="en-US" dirty="0"/>
              <a:t>Validates user credentials before granting access</a:t>
            </a:r>
          </a:p>
          <a:p>
            <a:r>
              <a:rPr lang="en-US" dirty="0"/>
              <a:t>Maintains session-based authentication</a:t>
            </a:r>
          </a:p>
          <a:p>
            <a:r>
              <a:rPr lang="en-US" dirty="0"/>
              <a:t>Prevents unauthorized access to the system</a:t>
            </a:r>
          </a:p>
          <a:p>
            <a:r>
              <a:rPr lang="en-US" b="1" dirty="0"/>
              <a:t>2. User Profile Module</a:t>
            </a:r>
          </a:p>
          <a:p>
            <a:r>
              <a:rPr lang="en-US" dirty="0"/>
              <a:t>Stores and manages user personal information</a:t>
            </a:r>
          </a:p>
          <a:p>
            <a:r>
              <a:rPr lang="en-US" dirty="0"/>
              <a:t>Allows users to view and update profile details</a:t>
            </a:r>
          </a:p>
          <a:p>
            <a:r>
              <a:rPr lang="en-US" dirty="0"/>
              <a:t>Maintains user settings and preferences</a:t>
            </a:r>
          </a:p>
          <a:p>
            <a:r>
              <a:rPr lang="en-US" dirty="0"/>
              <a:t>Supports a personalized learning experience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2" name="Google Shape;122;p15"/>
          <p:cNvSpPr txBox="1">
            <a:spLocks noGrp="1"/>
          </p:cNvSpPr>
          <p:nvPr>
            <p:ph type="sldNum" idx="12"/>
          </p:nvPr>
        </p:nvSpPr>
        <p:spPr>
          <a:xfrm>
            <a:off x="11624537" y="39525"/>
            <a:ext cx="5394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6E38C2-BBF6-DF14-3E33-8B4978E4E8F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82924A-5086-8606-E556-6FC66116A2FD}"/>
              </a:ext>
            </a:extLst>
          </p:cNvPr>
          <p:cNvSpPr txBox="1"/>
          <p:nvPr/>
        </p:nvSpPr>
        <p:spPr>
          <a:xfrm>
            <a:off x="199292" y="316523"/>
            <a:ext cx="1152378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3. Learning Item Management Module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Allows users to save learning resources via links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Supports editing, deleting, and organizing items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Enables priority tagging for important topics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Allows setting target readiness dates</a:t>
            </a:r>
          </a:p>
          <a:p>
            <a:r>
              <a:rPr lang="en-US" sz="2400" b="1" dirty="0"/>
              <a:t>Purpose:</a:t>
            </a:r>
            <a:br>
              <a:rPr lang="en-US" sz="2400" dirty="0"/>
            </a:br>
            <a:r>
              <a:rPr lang="en-US" sz="2400" dirty="0"/>
              <a:t>These modules form the core system foundation, managing user identity and storing learning resources in an organized structure.</a:t>
            </a:r>
          </a:p>
          <a:p>
            <a:endParaRPr lang="en-US" sz="2400" dirty="0"/>
          </a:p>
          <a:p>
            <a:r>
              <a:rPr lang="en-US" sz="2400" b="1" dirty="0"/>
              <a:t>b. Learning Intelligence &amp; Automation:</a:t>
            </a:r>
          </a:p>
          <a:p>
            <a:r>
              <a:rPr lang="en-US" sz="2400" b="1" dirty="0"/>
              <a:t>(Modules: Metadata Extraction, Reminder &amp; Scheduling, Interaction Tracking)</a:t>
            </a:r>
            <a:endParaRPr lang="en-US" sz="2400" dirty="0"/>
          </a:p>
          <a:p>
            <a:r>
              <a:rPr lang="en-US" sz="2400" b="1" dirty="0"/>
              <a:t>4. Metadata Extraction Module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Automatically extracts title and basic metadata from links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Retrieves H1, H2, H3 headings from supported webpages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Reduces manual data entry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Improves content organization</a:t>
            </a:r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48717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757B16C-CC65-282F-7AB0-2E6678D6D8B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77020C-2264-73A9-0624-667A88A012CA}"/>
              </a:ext>
            </a:extLst>
          </p:cNvPr>
          <p:cNvSpPr txBox="1"/>
          <p:nvPr/>
        </p:nvSpPr>
        <p:spPr>
          <a:xfrm>
            <a:off x="152400" y="316523"/>
            <a:ext cx="1147213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5. Reminder &amp; Scheduling Module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Allows users to set target readiness deadlines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Generates reminders based on upcoming deadlines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Displays reminders during user login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Encourages timely revision of learning items</a:t>
            </a:r>
          </a:p>
          <a:p>
            <a:r>
              <a:rPr lang="en-US" sz="2400" b="1" dirty="0"/>
              <a:t>6. Interaction Tracking Module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Tracks resource access frequency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Stores last accessed timestamps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Maintains interaction history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Identifies unused or rarely accessed resources</a:t>
            </a:r>
          </a:p>
          <a:p>
            <a:r>
              <a:rPr lang="en-US" sz="2400" b="1" dirty="0"/>
              <a:t>Purpose:</a:t>
            </a:r>
            <a:br>
              <a:rPr lang="en-US" sz="2400" dirty="0"/>
            </a:br>
            <a:r>
              <a:rPr lang="en-US" sz="2400" dirty="0"/>
              <a:t>These modules introduce automation and learning insights, helping users manage their preparation more efficiently.</a:t>
            </a:r>
          </a:p>
          <a:p>
            <a:br>
              <a:rPr lang="en-US" sz="2400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52453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69AA80-B2A5-5B31-16B7-8356D8B203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5073B4-C886-6429-65A5-4D635D63FE1D}"/>
              </a:ext>
            </a:extLst>
          </p:cNvPr>
          <p:cNvSpPr txBox="1"/>
          <p:nvPr/>
        </p:nvSpPr>
        <p:spPr>
          <a:xfrm>
            <a:off x="187569" y="404650"/>
            <a:ext cx="11347939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c. Presentation &amp; User Awareness Layer</a:t>
            </a:r>
          </a:p>
          <a:p>
            <a:r>
              <a:rPr lang="en-US" sz="2400" b="1" dirty="0"/>
              <a:t>(Modules: Dashboard &amp; Analytics, Notification)</a:t>
            </a:r>
            <a:endParaRPr lang="en-US" sz="2400" dirty="0"/>
          </a:p>
          <a:p>
            <a:r>
              <a:rPr lang="en-US" sz="2400" b="1" dirty="0"/>
              <a:t>7. Dashboard &amp; Analytics Module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Provides an overview of saved learning items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Displays learning progress and activity statistics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Shows upcoming readiness deadlines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Helps users monitor learning performance</a:t>
            </a:r>
          </a:p>
          <a:p>
            <a:r>
              <a:rPr lang="en-US" sz="2400" b="1" dirty="0"/>
              <a:t>8. Notification Module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Displays alerts and reminders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Notifies users about pending learning tasks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Appears during user login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Keeps users informed about important updates</a:t>
            </a:r>
          </a:p>
          <a:p>
            <a:r>
              <a:rPr lang="en-US" sz="2400" b="1" dirty="0"/>
              <a:t>Purpose:</a:t>
            </a:r>
            <a:br>
              <a:rPr lang="en-US" sz="2400" dirty="0"/>
            </a:br>
            <a:r>
              <a:rPr lang="en-US" sz="2400" dirty="0"/>
              <a:t>These modules focus on </a:t>
            </a:r>
            <a:r>
              <a:rPr lang="en-US" sz="2400" b="1" dirty="0"/>
              <a:t>information visualization and user awareness</a:t>
            </a:r>
            <a:r>
              <a:rPr lang="en-US" sz="2400" dirty="0"/>
              <a:t>, enabling users to track progress and stay aligned with learning goals.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69624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7B6F772-ED25-7285-6177-A485881118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784370-E37B-EEBF-23BD-A12432E5FB23}"/>
              </a:ext>
            </a:extLst>
          </p:cNvPr>
          <p:cNvSpPr txBox="1"/>
          <p:nvPr/>
        </p:nvSpPr>
        <p:spPr>
          <a:xfrm>
            <a:off x="140677" y="246185"/>
            <a:ext cx="11483860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Prepared Frontend (Current Prototype)</a:t>
            </a:r>
          </a:p>
          <a:p>
            <a:endParaRPr lang="en-US" sz="2400" b="1" dirty="0"/>
          </a:p>
          <a:p>
            <a:r>
              <a:rPr lang="en-US" sz="2400" b="1" dirty="0"/>
              <a:t>Objective</a:t>
            </a:r>
          </a:p>
          <a:p>
            <a:r>
              <a:rPr lang="en-US" sz="2400" dirty="0"/>
              <a:t>A basic frontend prototype has been developed to demonstrate the platform’s user interface and navigation for managing learning resources.</a:t>
            </a:r>
          </a:p>
          <a:p>
            <a:endParaRPr lang="en-US" sz="2400" dirty="0"/>
          </a:p>
          <a:p>
            <a:r>
              <a:rPr lang="en-US" sz="2400" b="1" dirty="0"/>
              <a:t>Technologies Used</a:t>
            </a:r>
          </a:p>
          <a:p>
            <a:r>
              <a:rPr lang="en-US" sz="2400" b="1" dirty="0"/>
              <a:t>HTML5</a:t>
            </a:r>
            <a:r>
              <a:rPr lang="en-US" sz="2400" dirty="0"/>
              <a:t> – Creates the structure of web pages</a:t>
            </a:r>
          </a:p>
          <a:p>
            <a:r>
              <a:rPr lang="en-US" sz="2400" b="1" dirty="0"/>
              <a:t>CSS3</a:t>
            </a:r>
            <a:r>
              <a:rPr lang="en-US" sz="2400" dirty="0"/>
              <a:t> – Designs the layout and visual appearance</a:t>
            </a:r>
          </a:p>
          <a:p>
            <a:endParaRPr lang="en-US" sz="2400" dirty="0"/>
          </a:p>
          <a:p>
            <a:r>
              <a:rPr lang="en-US" sz="2400" b="1" dirty="0"/>
              <a:t>Interface Pages Developed</a:t>
            </a:r>
          </a:p>
          <a:p>
            <a:r>
              <a:rPr lang="en-US" sz="2400" b="1" dirty="0"/>
              <a:t>1. Add Item Page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Allows users to add new learning resources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Provides a form to paste learning links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Collects information related to learning items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03328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A3126C-9425-C148-3C42-3DE97FE4009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61EFEB-0BD3-5297-924C-A44E623D1EC2}"/>
              </a:ext>
            </a:extLst>
          </p:cNvPr>
          <p:cNvSpPr txBox="1"/>
          <p:nvPr/>
        </p:nvSpPr>
        <p:spPr>
          <a:xfrm>
            <a:off x="175846" y="304800"/>
            <a:ext cx="11448691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2. My Items Page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Displays saved learning resources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Organizes items for easy access and tracking</a:t>
            </a:r>
          </a:p>
          <a:p>
            <a:r>
              <a:rPr lang="en-US" sz="2400" b="1" dirty="0"/>
              <a:t>3. Reminders Page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Displays learning items that need revision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Shows upcoming reminders</a:t>
            </a:r>
          </a:p>
          <a:p>
            <a:r>
              <a:rPr lang="en-US" sz="2400" b="1" dirty="0"/>
              <a:t>4. Profile Page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Displays user profile information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Provides layout for managing user details</a:t>
            </a:r>
          </a:p>
          <a:p>
            <a:endParaRPr lang="en-US" sz="2400" dirty="0"/>
          </a:p>
          <a:p>
            <a:r>
              <a:rPr lang="en-US" sz="2400" b="1" dirty="0"/>
              <a:t>Interface Design Features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Simple and clean layout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Easy navigation between pages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Structured organization of learning resources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Designed for future backend integration</a:t>
            </a:r>
          </a:p>
          <a:p>
            <a:br>
              <a:rPr lang="en-US" sz="2400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94995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BC8704-3EAE-CBB5-F8D8-13419B48656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4515F7-6254-7E29-A62B-94305E3ACCD9}"/>
              </a:ext>
            </a:extLst>
          </p:cNvPr>
          <p:cNvSpPr txBox="1"/>
          <p:nvPr/>
        </p:nvSpPr>
        <p:spPr>
          <a:xfrm>
            <a:off x="199292" y="175846"/>
            <a:ext cx="112307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Activity Diagram (for adding learning items) 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1920E9-EC39-0589-2D55-9285AD90C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0331" y="1228765"/>
            <a:ext cx="4096322" cy="465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575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000000"/>
      </a:dk1>
      <a:lt1>
        <a:srgbClr val="FFFFFF"/>
      </a:lt1>
      <a:dk2>
        <a:srgbClr val="293786"/>
      </a:dk2>
      <a:lt2>
        <a:srgbClr val="A21D2E"/>
      </a:lt2>
      <a:accent1>
        <a:srgbClr val="A6AFE4"/>
      </a:accent1>
      <a:accent2>
        <a:srgbClr val="F4BEC4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507</Words>
  <Application>Microsoft Office PowerPoint</Application>
  <PresentationFormat>Widescreen</PresentationFormat>
  <Paragraphs>94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Zilla Slab</vt:lpstr>
      <vt:lpstr>Office Theme</vt:lpstr>
      <vt:lpstr>Insert Text Here</vt:lpstr>
      <vt:lpstr>Module Details-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Mona Bhattacharya</dc:creator>
  <cp:lastModifiedBy>monabhattacharya99@gmail.com</cp:lastModifiedBy>
  <cp:revision>1</cp:revision>
  <dcterms:modified xsi:type="dcterms:W3CDTF">2026-03-12T18:11:37Z</dcterms:modified>
</cp:coreProperties>
</file>