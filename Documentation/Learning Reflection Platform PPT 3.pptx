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334" r:id="rId2"/>
    <p:sldId id="257" r:id="rId3"/>
    <p:sldId id="331" r:id="rId4"/>
    <p:sldId id="333" r:id="rId5"/>
    <p:sldId id="279" r:id="rId6"/>
    <p:sldId id="335" r:id="rId7"/>
    <p:sldId id="337" r:id="rId8"/>
    <p:sldId id="339" r:id="rId9"/>
    <p:sldId id="338" r:id="rId10"/>
    <p:sldId id="340" r:id="rId11"/>
    <p:sldId id="341" r:id="rId12"/>
    <p:sldId id="342" r:id="rId13"/>
    <p:sldId id="343" r:id="rId14"/>
    <p:sldId id="344" r:id="rId15"/>
    <p:sldId id="345" r:id="rId16"/>
    <p:sldId id="346" r:id="rId17"/>
    <p:sldId id="34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82" autoAdjust="0"/>
    <p:restoredTop sz="94559" autoAdjust="0"/>
  </p:normalViewPr>
  <p:slideViewPr>
    <p:cSldViewPr snapToGrid="0" showGuides="1">
      <p:cViewPr>
        <p:scale>
          <a:sx n="66" d="100"/>
          <a:sy n="66" d="100"/>
        </p:scale>
        <p:origin x="708" y="32"/>
      </p:cViewPr>
      <p:guideLst>
        <p:guide orient="horz" pos="2160"/>
        <p:guide pos="3840"/>
      </p:guideLst>
    </p:cSldViewPr>
  </p:slideViewPr>
  <p:notesTextViewPr>
    <p:cViewPr>
      <p:scale>
        <a:sx n="1" d="1"/>
        <a:sy n="1" d="1"/>
      </p:scale>
      <p:origin x="0" y="0"/>
    </p:cViewPr>
  </p:notesTextViewPr>
  <p:notesViewPr>
    <p:cSldViewPr snapToGrid="0" showGuides="1">
      <p:cViewPr varScale="1">
        <p:scale>
          <a:sx n="62" d="100"/>
          <a:sy n="62"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84737E3-B7EF-C36D-3F40-4539A7E3D4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AE193C-EA0C-9D29-0505-F3E10B918A8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120A3A-57DF-4E27-A938-C9CB18371920}" type="datetimeFigureOut">
              <a:rPr lang="en-US" smtClean="0"/>
              <a:t>3/27/2026</a:t>
            </a:fld>
            <a:endParaRPr lang="en-US"/>
          </a:p>
        </p:txBody>
      </p:sp>
      <p:sp>
        <p:nvSpPr>
          <p:cNvPr id="4" name="Footer Placeholder 3">
            <a:extLst>
              <a:ext uri="{FF2B5EF4-FFF2-40B4-BE49-F238E27FC236}">
                <a16:creationId xmlns:a16="http://schemas.microsoft.com/office/drawing/2014/main" id="{4386EEDC-13CE-28A8-E844-DC63E59B7E5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C35EE97-51CE-81BD-B5CD-D9814F3824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0D7A73-8F03-409A-BE31-6E23BC7710C5}" type="slidenum">
              <a:rPr lang="en-US" smtClean="0"/>
              <a:t>‹#›</a:t>
            </a:fld>
            <a:endParaRPr lang="en-US"/>
          </a:p>
        </p:txBody>
      </p:sp>
    </p:spTree>
    <p:extLst>
      <p:ext uri="{BB962C8B-B14F-4D97-AF65-F5344CB8AC3E}">
        <p14:creationId xmlns:p14="http://schemas.microsoft.com/office/powerpoint/2010/main" val="118059423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05AD8A-73DF-4EB2-BCCF-08F085C123AA}" type="datetimeFigureOut">
              <a:rPr lang="en-US" smtClean="0"/>
              <a:t>3/27/2026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242390-4565-48BF-B2BF-3ADAF840DD91}" type="slidenum">
              <a:rPr lang="en-US" smtClean="0"/>
              <a:t>‹#›</a:t>
            </a:fld>
            <a:endParaRPr lang="en-US"/>
          </a:p>
        </p:txBody>
      </p:sp>
    </p:spTree>
    <p:extLst>
      <p:ext uri="{BB962C8B-B14F-4D97-AF65-F5344CB8AC3E}">
        <p14:creationId xmlns:p14="http://schemas.microsoft.com/office/powerpoint/2010/main" val="544017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2.svg"/><Relationship Id="rId11" Type="http://schemas.openxmlformats.org/officeDocument/2006/relationships/image" Target="../media/image2.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21B6C1D-9A58-FCFD-FC59-B83B334775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D82D007B-2D23-25BC-3840-8B44EAE5DA72}"/>
              </a:ext>
            </a:extLst>
          </p:cNvPr>
          <p:cNvSpPr>
            <a:spLocks noGrp="1"/>
          </p:cNvSpPr>
          <p:nvPr>
            <p:ph type="ctrTitle"/>
          </p:nvPr>
        </p:nvSpPr>
        <p:spPr>
          <a:xfrm>
            <a:off x="944880" y="2836506"/>
            <a:ext cx="9598712" cy="1942536"/>
          </a:xfrm>
        </p:spPr>
        <p:txBody>
          <a:bodyPr anchor="b">
            <a:normAutofit/>
          </a:bodyPr>
          <a:lstStyle>
            <a:lvl1pPr algn="l">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AD05245-A962-B22A-4DDB-C3B335E6454A}"/>
              </a:ext>
            </a:extLst>
          </p:cNvPr>
          <p:cNvSpPr>
            <a:spLocks noGrp="1"/>
          </p:cNvSpPr>
          <p:nvPr>
            <p:ph type="subTitle" idx="1"/>
          </p:nvPr>
        </p:nvSpPr>
        <p:spPr>
          <a:xfrm>
            <a:off x="944880" y="5108704"/>
            <a:ext cx="9144000" cy="605502"/>
          </a:xfrm>
        </p:spPr>
        <p:txBody>
          <a:bodyPr>
            <a:normAutofit/>
          </a:bodyPr>
          <a:lstStyle>
            <a:lvl1pPr marL="0" indent="0" algn="l">
              <a:buNone/>
              <a:defRPr sz="36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4" name="Picture 13">
            <a:extLst>
              <a:ext uri="{FF2B5EF4-FFF2-40B4-BE49-F238E27FC236}">
                <a16:creationId xmlns:a16="http://schemas.microsoft.com/office/drawing/2014/main" id="{C1E589B6-88B9-49D6-0916-921E66203BF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4880" y="1041399"/>
            <a:ext cx="3151259" cy="686813"/>
          </a:xfrm>
          <a:prstGeom prst="rect">
            <a:avLst/>
          </a:prstGeom>
        </p:spPr>
      </p:pic>
      <p:pic>
        <p:nvPicPr>
          <p:cNvPr id="6" name="Picture 5">
            <a:extLst>
              <a:ext uri="{FF2B5EF4-FFF2-40B4-BE49-F238E27FC236}">
                <a16:creationId xmlns:a16="http://schemas.microsoft.com/office/drawing/2014/main" id="{AC26ABD9-40D7-AA22-F0C1-650D3C21A1D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44880" y="6334744"/>
            <a:ext cx="1725318" cy="365792"/>
          </a:xfrm>
          <a:prstGeom prst="rect">
            <a:avLst/>
          </a:prstGeom>
        </p:spPr>
      </p:pic>
    </p:spTree>
    <p:extLst>
      <p:ext uri="{BB962C8B-B14F-4D97-AF65-F5344CB8AC3E}">
        <p14:creationId xmlns:p14="http://schemas.microsoft.com/office/powerpoint/2010/main" val="17167597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48D5A62-614B-2D12-4D2F-EBF4440B03D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E303836C-3920-B8E1-6601-C5C5446BEA1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07DDB8D-FC27-13BF-343B-91B6E648E7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837FC482-F850-8020-F4D8-5B9804E9BE4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6" name="Graphic 5">
            <a:extLst>
              <a:ext uri="{FF2B5EF4-FFF2-40B4-BE49-F238E27FC236}">
                <a16:creationId xmlns:a16="http://schemas.microsoft.com/office/drawing/2014/main" id="{4641A13F-9C9A-7798-CC1C-CE523E7B96E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5" name="Slide Number Placeholder 5">
            <a:extLst>
              <a:ext uri="{FF2B5EF4-FFF2-40B4-BE49-F238E27FC236}">
                <a16:creationId xmlns:a16="http://schemas.microsoft.com/office/drawing/2014/main" id="{178AA40A-965E-4A63-9800-522E13EEDAAE}"/>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pic>
        <p:nvPicPr>
          <p:cNvPr id="7" name="Picture 6">
            <a:extLst>
              <a:ext uri="{FF2B5EF4-FFF2-40B4-BE49-F238E27FC236}">
                <a16:creationId xmlns:a16="http://schemas.microsoft.com/office/drawing/2014/main" id="{4180655E-9533-1F3E-EE1F-400B7CC42A23}"/>
              </a:ext>
            </a:extLst>
          </p:cNvPr>
          <p:cNvPicPr>
            <a:picLocks noChangeAspect="1"/>
          </p:cNvPicPr>
          <p:nvPr userDrawn="1"/>
        </p:nvPicPr>
        <p:blipFill>
          <a:blip r:embed="rId6">
            <a:alphaModFix amt="20000"/>
            <a:extLst>
              <a:ext uri="{28A0092B-C50C-407E-A947-70E740481C1C}">
                <a14:useLocalDpi xmlns:a14="http://schemas.microsoft.com/office/drawing/2010/main" val="0"/>
              </a:ext>
            </a:extLst>
          </a:blip>
          <a:srcRect t="911" r="25323" b="911"/>
          <a:stretch/>
        </p:blipFill>
        <p:spPr>
          <a:xfrm>
            <a:off x="0" y="0"/>
            <a:ext cx="12164007" cy="6858000"/>
          </a:xfrm>
          <a:prstGeom prst="rect">
            <a:avLst/>
          </a:prstGeom>
        </p:spPr>
      </p:pic>
      <p:sp>
        <p:nvSpPr>
          <p:cNvPr id="9" name="Rectangle 8">
            <a:extLst>
              <a:ext uri="{FF2B5EF4-FFF2-40B4-BE49-F238E27FC236}">
                <a16:creationId xmlns:a16="http://schemas.microsoft.com/office/drawing/2014/main" id="{B0563A23-3EFF-38EB-A383-397C48DB7BBD}"/>
              </a:ext>
            </a:extLst>
          </p:cNvPr>
          <p:cNvSpPr/>
          <p:nvPr userDrawn="1"/>
        </p:nvSpPr>
        <p:spPr>
          <a:xfrm>
            <a:off x="0" y="0"/>
            <a:ext cx="346364" cy="4219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2A32BE1-F42E-110C-83BF-0ACBAA7288E6}"/>
              </a:ext>
            </a:extLst>
          </p:cNvPr>
          <p:cNvSpPr/>
          <p:nvPr userDrawn="1"/>
        </p:nvSpPr>
        <p:spPr>
          <a:xfrm>
            <a:off x="0" y="4219720"/>
            <a:ext cx="346364" cy="263827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F06C126F-E72F-28EC-ED77-1AAD54999D83}"/>
              </a:ext>
            </a:extLst>
          </p:cNvPr>
          <p:cNvCxnSpPr/>
          <p:nvPr userDrawn="1"/>
        </p:nvCxnSpPr>
        <p:spPr>
          <a:xfrm>
            <a:off x="914400" y="6280030"/>
            <a:ext cx="1863306" cy="0"/>
          </a:xfrm>
          <a:prstGeom prst="line">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4359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5CB1EB-93F5-153E-4764-E6319385D9E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094E9C18-36D4-1EE7-007E-6520B516FDCB}"/>
              </a:ext>
            </a:extLst>
          </p:cNvPr>
          <p:cNvSpPr>
            <a:spLocks noGrp="1"/>
          </p:cNvSpPr>
          <p:nvPr>
            <p:ph type="title"/>
          </p:nvPr>
        </p:nvSpPr>
        <p:spPr>
          <a:xfrm>
            <a:off x="831850" y="1709738"/>
            <a:ext cx="10515600" cy="2852737"/>
          </a:xfrm>
        </p:spPr>
        <p:txBody>
          <a:bodyPr anchor="b"/>
          <a:lstStyle>
            <a:lvl1pPr>
              <a:defRPr sz="6000">
                <a:solidFill>
                  <a:schemeClr val="tx2"/>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2F4AB9D-F129-1D0A-3F18-30A01E3CCC4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Picture 3">
            <a:extLst>
              <a:ext uri="{FF2B5EF4-FFF2-40B4-BE49-F238E27FC236}">
                <a16:creationId xmlns:a16="http://schemas.microsoft.com/office/drawing/2014/main" id="{F9D8542C-570A-B982-EE49-D7BE0A03C9A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5" name="Graphic 4">
            <a:extLst>
              <a:ext uri="{FF2B5EF4-FFF2-40B4-BE49-F238E27FC236}">
                <a16:creationId xmlns:a16="http://schemas.microsoft.com/office/drawing/2014/main" id="{79EF8714-2E62-9E33-0635-B316E158ECA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6" name="Slide Number Placeholder 5">
            <a:extLst>
              <a:ext uri="{FF2B5EF4-FFF2-40B4-BE49-F238E27FC236}">
                <a16:creationId xmlns:a16="http://schemas.microsoft.com/office/drawing/2014/main" id="{B56914BD-BC5D-E404-E474-87D0704C84E1}"/>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31595868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17A5C9C-15EB-E01C-A21A-71D8E8B7B44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27D6001B-3DD9-17F0-8DD5-9C726E119CB1}"/>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0DF940-4841-13C0-050D-C893010CE0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5CA22BF0-4C09-EE31-F1E7-CE5F45A8AA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a:extLst>
              <a:ext uri="{FF2B5EF4-FFF2-40B4-BE49-F238E27FC236}">
                <a16:creationId xmlns:a16="http://schemas.microsoft.com/office/drawing/2014/main" id="{A4F9AE5F-CE26-D80C-F042-86377F8A6D7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7" name="Graphic 6">
            <a:extLst>
              <a:ext uri="{FF2B5EF4-FFF2-40B4-BE49-F238E27FC236}">
                <a16:creationId xmlns:a16="http://schemas.microsoft.com/office/drawing/2014/main" id="{622AC294-F3E3-1F24-5352-81AB4060EBF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5" name="Slide Number Placeholder 5">
            <a:extLst>
              <a:ext uri="{FF2B5EF4-FFF2-40B4-BE49-F238E27FC236}">
                <a16:creationId xmlns:a16="http://schemas.microsoft.com/office/drawing/2014/main" id="{C68E6FF1-74DD-DB97-8000-750655DC310A}"/>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19039341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D3521FE-8074-3AEE-08BB-863228D4A2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5B4051E9-43BD-C793-F812-C8B2D5C7511A}"/>
              </a:ext>
            </a:extLst>
          </p:cNvPr>
          <p:cNvSpPr>
            <a:spLocks noGrp="1"/>
          </p:cNvSpPr>
          <p:nvPr>
            <p:ph type="title"/>
          </p:nvPr>
        </p:nvSpPr>
        <p:spPr>
          <a:xfrm>
            <a:off x="839788" y="365125"/>
            <a:ext cx="10515600" cy="1325563"/>
          </a:xfrm>
        </p:spPr>
        <p:txBody>
          <a:bodyPr/>
          <a:lstStyle>
            <a:lvl1pPr>
              <a:defRPr>
                <a:solidFill>
                  <a:schemeClr val="tx2"/>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470F60C-4123-6B76-0C69-9257E0884C80}"/>
              </a:ext>
            </a:extLst>
          </p:cNvPr>
          <p:cNvSpPr>
            <a:spLocks noGrp="1"/>
          </p:cNvSpPr>
          <p:nvPr>
            <p:ph type="body" idx="1"/>
          </p:nvPr>
        </p:nvSpPr>
        <p:spPr>
          <a:xfrm>
            <a:off x="839788" y="1681163"/>
            <a:ext cx="5157787" cy="823912"/>
          </a:xfrm>
        </p:spPr>
        <p:txBody>
          <a:bodyPr anchor="b"/>
          <a:lstStyle>
            <a:lvl1pPr marL="0" indent="0">
              <a:buNone/>
              <a:defRPr sz="2400" b="1">
                <a:solidFill>
                  <a:schemeClr val="bg2"/>
                </a:solidFill>
                <a:latin typeface="Zilla Slab" pitchFamily="2" charset="0"/>
                <a:ea typeface="Zilla Slab"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B28564-DC70-E696-0B34-9B756C5B4D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A1411CD-ADCF-8C75-C21B-9C8189CDDC58}"/>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2"/>
                </a:solidFill>
                <a:latin typeface="Zilla Slab" pitchFamily="2" charset="0"/>
                <a:ea typeface="Zilla Slab"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A3D30F-8257-0773-224C-A80FD7DCC3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784CB09F-AA67-425D-8664-92FF321FB4E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8" name="Graphic 7">
            <a:extLst>
              <a:ext uri="{FF2B5EF4-FFF2-40B4-BE49-F238E27FC236}">
                <a16:creationId xmlns:a16="http://schemas.microsoft.com/office/drawing/2014/main" id="{D9773CB4-AA79-2B87-C13D-416A1743F26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9" name="Slide Number Placeholder 5">
            <a:extLst>
              <a:ext uri="{FF2B5EF4-FFF2-40B4-BE49-F238E27FC236}">
                <a16:creationId xmlns:a16="http://schemas.microsoft.com/office/drawing/2014/main" id="{951C8CC7-5103-852D-2638-5633A716F9E0}"/>
              </a:ext>
            </a:extLst>
          </p:cNvPr>
          <p:cNvSpPr>
            <a:spLocks noGrp="1"/>
          </p:cNvSpPr>
          <p:nvPr>
            <p:ph type="sldNum" sz="quarter" idx="10"/>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4572414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C190A96-BFCE-EFBD-CCDA-D7646C83B4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ED80C1EC-5C4F-4BB4-1D23-1BB6D97E2B04}"/>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pic>
        <p:nvPicPr>
          <p:cNvPr id="3" name="Picture 2">
            <a:extLst>
              <a:ext uri="{FF2B5EF4-FFF2-40B4-BE49-F238E27FC236}">
                <a16:creationId xmlns:a16="http://schemas.microsoft.com/office/drawing/2014/main" id="{2ACC1866-2580-DF83-1482-67DBCC2EA1E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4" name="Graphic 3">
            <a:extLst>
              <a:ext uri="{FF2B5EF4-FFF2-40B4-BE49-F238E27FC236}">
                <a16:creationId xmlns:a16="http://schemas.microsoft.com/office/drawing/2014/main" id="{06928A15-0FAE-3D7A-BE88-D42ED256BE3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5" name="Slide Number Placeholder 5">
            <a:extLst>
              <a:ext uri="{FF2B5EF4-FFF2-40B4-BE49-F238E27FC236}">
                <a16:creationId xmlns:a16="http://schemas.microsoft.com/office/drawing/2014/main" id="{C03D672C-222C-01AE-E0B6-93D6FE1ABD79}"/>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5600925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B72897-6F99-23F4-62FA-97B44DE86C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pic>
        <p:nvPicPr>
          <p:cNvPr id="2" name="Picture 1">
            <a:extLst>
              <a:ext uri="{FF2B5EF4-FFF2-40B4-BE49-F238E27FC236}">
                <a16:creationId xmlns:a16="http://schemas.microsoft.com/office/drawing/2014/main" id="{1B4B1E94-09C1-BD0F-9C7D-EA10237B86C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3" name="Graphic 2">
            <a:extLst>
              <a:ext uri="{FF2B5EF4-FFF2-40B4-BE49-F238E27FC236}">
                <a16:creationId xmlns:a16="http://schemas.microsoft.com/office/drawing/2014/main" id="{12804975-758F-47E4-93AA-69CA818075B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4" name="Slide Number Placeholder 5">
            <a:extLst>
              <a:ext uri="{FF2B5EF4-FFF2-40B4-BE49-F238E27FC236}">
                <a16:creationId xmlns:a16="http://schemas.microsoft.com/office/drawing/2014/main" id="{E3EE3F8D-94C6-6090-7F45-0140F68D96F7}"/>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8090301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EA1E715-A3C2-1062-72BA-AA6101EFDB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3C33B173-896D-3270-D196-9EA3CDED3908}"/>
              </a:ext>
            </a:extLst>
          </p:cNvPr>
          <p:cNvSpPr>
            <a:spLocks noGrp="1"/>
          </p:cNvSpPr>
          <p:nvPr>
            <p:ph type="title"/>
          </p:nvPr>
        </p:nvSpPr>
        <p:spPr>
          <a:xfrm>
            <a:off x="839788" y="457200"/>
            <a:ext cx="3932237" cy="1112838"/>
          </a:xfrm>
        </p:spPr>
        <p:txBody>
          <a:bodyPr anchor="b"/>
          <a:lstStyle>
            <a:lvl1pPr>
              <a:defRPr sz="32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E64532D-27C9-84A8-A21E-F55F542623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009652A-3B8E-D6FE-0C51-AD79BCB11F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a:extLst>
              <a:ext uri="{FF2B5EF4-FFF2-40B4-BE49-F238E27FC236}">
                <a16:creationId xmlns:a16="http://schemas.microsoft.com/office/drawing/2014/main" id="{FA6FED96-33F4-AE85-1943-38B458CA6CC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6" name="Graphic 5">
            <a:extLst>
              <a:ext uri="{FF2B5EF4-FFF2-40B4-BE49-F238E27FC236}">
                <a16:creationId xmlns:a16="http://schemas.microsoft.com/office/drawing/2014/main" id="{76CCEDC5-EC77-FE15-57BB-7AAC4B53333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7" name="Slide Number Placeholder 5">
            <a:extLst>
              <a:ext uri="{FF2B5EF4-FFF2-40B4-BE49-F238E27FC236}">
                <a16:creationId xmlns:a16="http://schemas.microsoft.com/office/drawing/2014/main" id="{D09DCED4-9B61-CDC1-9F25-4418EED76E26}"/>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20673393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EF93E89-EC43-508C-91D2-FE01949F0ED8}"/>
              </a:ext>
            </a:extLst>
          </p:cNvPr>
          <p:cNvSpPr/>
          <p:nvPr userDrawn="1"/>
        </p:nvSpPr>
        <p:spPr>
          <a:xfrm>
            <a:off x="5076825" y="885825"/>
            <a:ext cx="6275387" cy="498316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8EC8168B-13D2-605D-EF13-8460F43410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D0864C21-F58A-694E-BDDF-DDA23E0F92EA}"/>
              </a:ext>
            </a:extLst>
          </p:cNvPr>
          <p:cNvSpPr>
            <a:spLocks noGrp="1"/>
          </p:cNvSpPr>
          <p:nvPr>
            <p:ph type="title"/>
          </p:nvPr>
        </p:nvSpPr>
        <p:spPr>
          <a:xfrm>
            <a:off x="839788" y="457200"/>
            <a:ext cx="3932237" cy="1112838"/>
          </a:xfrm>
        </p:spPr>
        <p:txBody>
          <a:bodyPr anchor="b"/>
          <a:lstStyle>
            <a:lvl1pPr>
              <a:defRPr sz="3200">
                <a:solidFill>
                  <a:schemeClr val="tx2"/>
                </a:solidFill>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B5008F3-14EF-C275-5009-54A6C0948E96}"/>
              </a:ext>
            </a:extLst>
          </p:cNvPr>
          <p:cNvSpPr>
            <a:spLocks noGrp="1"/>
          </p:cNvSpPr>
          <p:nvPr>
            <p:ph type="pic" idx="1"/>
          </p:nvPr>
        </p:nvSpPr>
        <p:spPr>
          <a:xfrm>
            <a:off x="5183188" y="987426"/>
            <a:ext cx="6065837" cy="4737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49828B4C-F206-DE18-A860-B2259AF8DF8F}"/>
              </a:ext>
            </a:extLst>
          </p:cNvPr>
          <p:cNvSpPr>
            <a:spLocks noGrp="1"/>
          </p:cNvSpPr>
          <p:nvPr>
            <p:ph type="body" sz="half" idx="2"/>
          </p:nvPr>
        </p:nvSpPr>
        <p:spPr>
          <a:xfrm>
            <a:off x="839788" y="1578718"/>
            <a:ext cx="3932237" cy="429026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5" name="Picture 4">
            <a:extLst>
              <a:ext uri="{FF2B5EF4-FFF2-40B4-BE49-F238E27FC236}">
                <a16:creationId xmlns:a16="http://schemas.microsoft.com/office/drawing/2014/main" id="{1050AA15-91AB-ED53-47E2-7B264334441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6" name="Graphic 5">
            <a:extLst>
              <a:ext uri="{FF2B5EF4-FFF2-40B4-BE49-F238E27FC236}">
                <a16:creationId xmlns:a16="http://schemas.microsoft.com/office/drawing/2014/main" id="{6C2B2FDC-3E39-80E3-47A9-F14E0B22DB6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7" name="Slide Number Placeholder 5">
            <a:extLst>
              <a:ext uri="{FF2B5EF4-FFF2-40B4-BE49-F238E27FC236}">
                <a16:creationId xmlns:a16="http://schemas.microsoft.com/office/drawing/2014/main" id="{FA1E7417-7698-6DAD-F799-E94ADF9A91E0}"/>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9561208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768AD05-1982-0DF0-DB84-69992E3B47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Title 1">
            <a:extLst>
              <a:ext uri="{FF2B5EF4-FFF2-40B4-BE49-F238E27FC236}">
                <a16:creationId xmlns:a16="http://schemas.microsoft.com/office/drawing/2014/main" id="{DD0D3381-9A33-CDE6-A465-39D508AD737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9A21791-0209-93DE-4383-04DAF66454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3A507BB1-3659-8D23-FA89-EA4F4D60D67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5" name="Graphic 4">
            <a:extLst>
              <a:ext uri="{FF2B5EF4-FFF2-40B4-BE49-F238E27FC236}">
                <a16:creationId xmlns:a16="http://schemas.microsoft.com/office/drawing/2014/main" id="{DA12D315-2DC9-AE52-4820-DBFE1FD82AA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6" name="Slide Number Placeholder 5">
            <a:extLst>
              <a:ext uri="{FF2B5EF4-FFF2-40B4-BE49-F238E27FC236}">
                <a16:creationId xmlns:a16="http://schemas.microsoft.com/office/drawing/2014/main" id="{BE0BA133-188F-1018-3011-9894D2759E33}"/>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42703659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D6172AF-7DA8-B4AB-77FD-93C3CDDBF74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135" y="0"/>
            <a:ext cx="435865" cy="432817"/>
          </a:xfrm>
          <a:prstGeom prst="rect">
            <a:avLst/>
          </a:prstGeom>
        </p:spPr>
      </p:pic>
      <p:sp>
        <p:nvSpPr>
          <p:cNvPr id="2" name="Vertical Title 1">
            <a:extLst>
              <a:ext uri="{FF2B5EF4-FFF2-40B4-BE49-F238E27FC236}">
                <a16:creationId xmlns:a16="http://schemas.microsoft.com/office/drawing/2014/main" id="{80514317-5D4A-3C1D-4027-E4A77FCE8B28}"/>
              </a:ext>
            </a:extLst>
          </p:cNvPr>
          <p:cNvSpPr>
            <a:spLocks noGrp="1"/>
          </p:cNvSpPr>
          <p:nvPr>
            <p:ph type="title" orient="vert"/>
          </p:nvPr>
        </p:nvSpPr>
        <p:spPr>
          <a:xfrm>
            <a:off x="8724900" y="365125"/>
            <a:ext cx="2628900" cy="5811838"/>
          </a:xfrm>
        </p:spPr>
        <p:txBody>
          <a:bodyPr vert="eaVert"/>
          <a:lstStyle>
            <a:lvl1pPr>
              <a:defRPr>
                <a:solidFill>
                  <a:schemeClr val="tx2"/>
                </a:solidFill>
              </a:defRPr>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94BE6995-F9A4-0689-FA08-AC65CBECF2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04AF2B0-44DA-FC23-665D-75C23412D4B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5002" y="6356350"/>
            <a:ext cx="1725318" cy="365792"/>
          </a:xfrm>
          <a:prstGeom prst="rect">
            <a:avLst/>
          </a:prstGeom>
        </p:spPr>
      </p:pic>
      <p:pic>
        <p:nvPicPr>
          <p:cNvPr id="5" name="Graphic 4">
            <a:extLst>
              <a:ext uri="{FF2B5EF4-FFF2-40B4-BE49-F238E27FC236}">
                <a16:creationId xmlns:a16="http://schemas.microsoft.com/office/drawing/2014/main" id="{1EBA1BCB-5D76-4F42-E4D9-407309BC6F3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3800" y="5986785"/>
            <a:ext cx="539470" cy="617231"/>
          </a:xfrm>
          <a:prstGeom prst="rect">
            <a:avLst/>
          </a:prstGeom>
        </p:spPr>
      </p:pic>
      <p:sp>
        <p:nvSpPr>
          <p:cNvPr id="6" name="Slide Number Placeholder 5">
            <a:extLst>
              <a:ext uri="{FF2B5EF4-FFF2-40B4-BE49-F238E27FC236}">
                <a16:creationId xmlns:a16="http://schemas.microsoft.com/office/drawing/2014/main" id="{BA9CA00D-4A52-8A7A-BE74-13E98B5DA635}"/>
              </a:ext>
            </a:extLst>
          </p:cNvPr>
          <p:cNvSpPr>
            <a:spLocks noGrp="1"/>
          </p:cNvSpPr>
          <p:nvPr>
            <p:ph type="sldNum" sz="quarter" idx="4"/>
          </p:nvPr>
        </p:nvSpPr>
        <p:spPr>
          <a:xfrm>
            <a:off x="11624537" y="39525"/>
            <a:ext cx="539470" cy="365125"/>
          </a:xfrm>
          <a:prstGeom prst="rect">
            <a:avLst/>
          </a:prstGeom>
        </p:spPr>
        <p:txBody>
          <a:bodyPr vert="horz" lIns="91440" tIns="45720" rIns="91440" bIns="45720" rtlCol="0" anchor="ctr"/>
          <a:lstStyle>
            <a:lvl1pPr algn="r">
              <a:defRPr sz="1200">
                <a:solidFill>
                  <a:schemeClr val="bg1"/>
                </a:solidFill>
              </a:defRPr>
            </a:lvl1pPr>
          </a:lstStyle>
          <a:p>
            <a:fld id="{94599A10-5031-416A-8935-40C3BCBA0AF7}" type="slidenum">
              <a:rPr lang="en-US" smtClean="0"/>
              <a:pPr/>
              <a:t>‹#›</a:t>
            </a:fld>
            <a:endParaRPr lang="en-US" dirty="0"/>
          </a:p>
        </p:txBody>
      </p:sp>
    </p:spTree>
    <p:extLst>
      <p:ext uri="{BB962C8B-B14F-4D97-AF65-F5344CB8AC3E}">
        <p14:creationId xmlns:p14="http://schemas.microsoft.com/office/powerpoint/2010/main" val="34118767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bg>
      <p:bgRef idx="1001">
        <a:schemeClr val="bg2"/>
      </p:bgRef>
    </p:bg>
    <p:spTree>
      <p:nvGrpSpPr>
        <p:cNvPr id="1" name=""/>
        <p:cNvGrpSpPr/>
        <p:nvPr/>
      </p:nvGrpSpPr>
      <p:grpSpPr>
        <a:xfrm>
          <a:off x="0" y="0"/>
          <a:ext cx="0" cy="0"/>
          <a:chOff x="0" y="0"/>
          <a:chExt cx="0" cy="0"/>
        </a:xfrm>
      </p:grpSpPr>
      <p:pic>
        <p:nvPicPr>
          <p:cNvPr id="10" name="Picture 9" hidden="1">
            <a:extLst>
              <a:ext uri="{FF2B5EF4-FFF2-40B4-BE49-F238E27FC236}">
                <a16:creationId xmlns:a16="http://schemas.microsoft.com/office/drawing/2014/main" id="{121B6C1D-9A58-FCFD-FC59-B83B334775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4796"/>
            <a:ext cx="12192000" cy="6857998"/>
          </a:xfrm>
          <a:prstGeom prst="rect">
            <a:avLst/>
          </a:prstGeom>
        </p:spPr>
      </p:pic>
      <p:pic>
        <p:nvPicPr>
          <p:cNvPr id="19" name="Graphic 18">
            <a:extLst>
              <a:ext uri="{FF2B5EF4-FFF2-40B4-BE49-F238E27FC236}">
                <a16:creationId xmlns:a16="http://schemas.microsoft.com/office/drawing/2014/main" id="{1C00A59F-5699-FFEC-05E4-084B9D01F50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92362" y="3032254"/>
            <a:ext cx="342035" cy="376238"/>
          </a:xfrm>
          <a:prstGeom prst="rect">
            <a:avLst/>
          </a:prstGeom>
        </p:spPr>
      </p:pic>
      <p:pic>
        <p:nvPicPr>
          <p:cNvPr id="21" name="Graphic 20">
            <a:extLst>
              <a:ext uri="{FF2B5EF4-FFF2-40B4-BE49-F238E27FC236}">
                <a16:creationId xmlns:a16="http://schemas.microsoft.com/office/drawing/2014/main" id="{572AEE09-A5AD-AA06-48E6-898E033BA948}"/>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09779" y="3926565"/>
            <a:ext cx="307200" cy="384000"/>
          </a:xfrm>
          <a:prstGeom prst="rect">
            <a:avLst/>
          </a:prstGeom>
        </p:spPr>
      </p:pic>
      <p:pic>
        <p:nvPicPr>
          <p:cNvPr id="23" name="Graphic 22">
            <a:extLst>
              <a:ext uri="{FF2B5EF4-FFF2-40B4-BE49-F238E27FC236}">
                <a16:creationId xmlns:a16="http://schemas.microsoft.com/office/drawing/2014/main" id="{A01C56E0-4FF4-A49E-65BE-5A1BF232E4D7}"/>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60775" y="4758611"/>
            <a:ext cx="405209" cy="405209"/>
          </a:xfrm>
          <a:prstGeom prst="rect">
            <a:avLst/>
          </a:prstGeom>
        </p:spPr>
      </p:pic>
      <p:pic>
        <p:nvPicPr>
          <p:cNvPr id="27" name="Graphic 26">
            <a:extLst>
              <a:ext uri="{FF2B5EF4-FFF2-40B4-BE49-F238E27FC236}">
                <a16:creationId xmlns:a16="http://schemas.microsoft.com/office/drawing/2014/main" id="{CDEF55D3-82EA-2BAF-B8BF-6C8795BCED9F}"/>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1109779" y="5676372"/>
            <a:ext cx="3172854" cy="376042"/>
          </a:xfrm>
          <a:prstGeom prst="rect">
            <a:avLst/>
          </a:prstGeom>
        </p:spPr>
      </p:pic>
      <p:pic>
        <p:nvPicPr>
          <p:cNvPr id="14" name="Picture 13">
            <a:extLst>
              <a:ext uri="{FF2B5EF4-FFF2-40B4-BE49-F238E27FC236}">
                <a16:creationId xmlns:a16="http://schemas.microsoft.com/office/drawing/2014/main" id="{C1E589B6-88B9-49D6-0916-921E66203BFF}"/>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944880" y="1041399"/>
            <a:ext cx="4760571" cy="1037560"/>
          </a:xfrm>
          <a:prstGeom prst="rect">
            <a:avLst/>
          </a:prstGeom>
        </p:spPr>
      </p:pic>
      <p:sp>
        <p:nvSpPr>
          <p:cNvPr id="6" name="Subtitle 2">
            <a:extLst>
              <a:ext uri="{FF2B5EF4-FFF2-40B4-BE49-F238E27FC236}">
                <a16:creationId xmlns:a16="http://schemas.microsoft.com/office/drawing/2014/main" id="{659A0B0B-6155-1E7E-4087-A0497CBDBD27}"/>
              </a:ext>
            </a:extLst>
          </p:cNvPr>
          <p:cNvSpPr txBox="1">
            <a:spLocks/>
          </p:cNvSpPr>
          <p:nvPr userDrawn="1"/>
        </p:nvSpPr>
        <p:spPr>
          <a:xfrm>
            <a:off x="1628774" y="3921043"/>
            <a:ext cx="8460106" cy="36395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dirty="0">
                <a:solidFill>
                  <a:schemeClr val="tx1"/>
                </a:solidFill>
              </a:rPr>
              <a:t>0731 3111500, 0731 3111501 </a:t>
            </a:r>
          </a:p>
        </p:txBody>
      </p:sp>
      <p:sp>
        <p:nvSpPr>
          <p:cNvPr id="7" name="Subtitle 2">
            <a:extLst>
              <a:ext uri="{FF2B5EF4-FFF2-40B4-BE49-F238E27FC236}">
                <a16:creationId xmlns:a16="http://schemas.microsoft.com/office/drawing/2014/main" id="{AC9BAA4C-4941-92F4-0508-9A086B1782D0}"/>
              </a:ext>
            </a:extLst>
          </p:cNvPr>
          <p:cNvSpPr txBox="1">
            <a:spLocks/>
          </p:cNvSpPr>
          <p:nvPr userDrawn="1"/>
        </p:nvSpPr>
        <p:spPr>
          <a:xfrm>
            <a:off x="1628774" y="4797553"/>
            <a:ext cx="8407400" cy="405209"/>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tx1"/>
                </a:solidFill>
              </a:rPr>
              <a:t>www.medicaps.ac.in</a:t>
            </a:r>
          </a:p>
        </p:txBody>
      </p:sp>
      <p:sp>
        <p:nvSpPr>
          <p:cNvPr id="28" name="Subtitle 2">
            <a:extLst>
              <a:ext uri="{FF2B5EF4-FFF2-40B4-BE49-F238E27FC236}">
                <a16:creationId xmlns:a16="http://schemas.microsoft.com/office/drawing/2014/main" id="{A505A0EF-09C3-A69E-1757-50EC79E03CA8}"/>
              </a:ext>
            </a:extLst>
          </p:cNvPr>
          <p:cNvSpPr txBox="1">
            <a:spLocks/>
          </p:cNvSpPr>
          <p:nvPr userDrawn="1"/>
        </p:nvSpPr>
        <p:spPr>
          <a:xfrm>
            <a:off x="1628774" y="3030245"/>
            <a:ext cx="8460106" cy="36395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tx1"/>
                </a:solidFill>
              </a:rPr>
              <a:t>A.B. Road, </a:t>
            </a:r>
            <a:r>
              <a:rPr lang="en-US" dirty="0" err="1">
                <a:solidFill>
                  <a:schemeClr val="tx1"/>
                </a:solidFill>
              </a:rPr>
              <a:t>Pigdamber</a:t>
            </a:r>
            <a:r>
              <a:rPr lang="en-US" dirty="0">
                <a:solidFill>
                  <a:schemeClr val="tx1"/>
                </a:solidFill>
              </a:rPr>
              <a:t>, Rau, Indore – 453331 </a:t>
            </a:r>
          </a:p>
        </p:txBody>
      </p:sp>
    </p:spTree>
    <p:extLst>
      <p:ext uri="{BB962C8B-B14F-4D97-AF65-F5344CB8AC3E}">
        <p14:creationId xmlns:p14="http://schemas.microsoft.com/office/powerpoint/2010/main" val="16829115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2AB9EE-315E-A59D-7C69-7297198BEC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ECD9C6-79F7-5E4F-5997-18FD9FB865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86A633-AE6E-E900-F6C6-2A97DCD181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07FF33C2-41D7-CC19-A386-62E89AE35F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8EF264C-5B54-0AB1-A4A1-B9DE1C365F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599A10-5031-416A-8935-40C3BCBA0AF7}" type="slidenum">
              <a:rPr lang="en-US" smtClean="0"/>
              <a:t>‹#›</a:t>
            </a:fld>
            <a:endParaRPr lang="en-US"/>
          </a:p>
        </p:txBody>
      </p:sp>
    </p:spTree>
    <p:extLst>
      <p:ext uri="{BB962C8B-B14F-4D97-AF65-F5344CB8AC3E}">
        <p14:creationId xmlns:p14="http://schemas.microsoft.com/office/powerpoint/2010/main" val="10432166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4"/>
          <p:cNvSpPr txBox="1">
            <a:spLocks noGrp="1"/>
          </p:cNvSpPr>
          <p:nvPr>
            <p:ph type="ctrTitle"/>
          </p:nvPr>
        </p:nvSpPr>
        <p:spPr>
          <a:xfrm>
            <a:off x="944880" y="2113936"/>
            <a:ext cx="10839579" cy="1200100"/>
          </a:xfrm>
          <a:prstGeom prst="rect">
            <a:avLst/>
          </a:prstGeom>
          <a:noFill/>
          <a:ln>
            <a:noFill/>
          </a:ln>
        </p:spPr>
        <p:txBody>
          <a:bodyPr spcFirstLastPara="1" wrap="square" lIns="91425" tIns="45700" rIns="91425" bIns="45700" anchor="b" anchorCtr="0">
            <a:normAutofit/>
          </a:bodyPr>
          <a:lstStyle/>
          <a:p>
            <a:pPr lvl="0">
              <a:buSzPct val="100000"/>
            </a:pPr>
            <a:r>
              <a:rPr lang="en-US" b="1" dirty="0">
                <a:ea typeface="Calibri" panose="020F0502020204030204" pitchFamily="34" charset="0"/>
                <a:cs typeface="Mangal" panose="02040503050203030202" pitchFamily="18" charset="0"/>
              </a:rPr>
              <a:t>Learning Reflection Platform</a:t>
            </a:r>
            <a:endParaRPr dirty="0"/>
          </a:p>
        </p:txBody>
      </p:sp>
      <p:sp>
        <p:nvSpPr>
          <p:cNvPr id="4" name="Subtitle 2">
            <a:extLst>
              <a:ext uri="{FF2B5EF4-FFF2-40B4-BE49-F238E27FC236}">
                <a16:creationId xmlns:a16="http://schemas.microsoft.com/office/drawing/2014/main" id="{F034BB4F-143D-D481-A544-D826BDF31F2D}"/>
              </a:ext>
            </a:extLst>
          </p:cNvPr>
          <p:cNvSpPr txBox="1">
            <a:spLocks/>
          </p:cNvSpPr>
          <p:nvPr/>
        </p:nvSpPr>
        <p:spPr>
          <a:xfrm>
            <a:off x="1030355" y="4640826"/>
            <a:ext cx="5449103" cy="170365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600" kern="1200">
                <a:solidFill>
                  <a:schemeClr val="bg1"/>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dirty="0">
                <a:latin typeface="+mn-lt"/>
              </a:rPr>
              <a:t>Presented By</a:t>
            </a:r>
          </a:p>
          <a:p>
            <a:r>
              <a:rPr lang="en-US" sz="2000" dirty="0"/>
              <a:t>Amita Kumari 		EN23CS301121</a:t>
            </a:r>
          </a:p>
          <a:p>
            <a:r>
              <a:rPr lang="en-US" sz="2000" dirty="0"/>
              <a:t>Anaaya Bhattacharya 	EN23CS301123</a:t>
            </a:r>
          </a:p>
          <a:p>
            <a:r>
              <a:rPr lang="en-US" sz="2000" dirty="0"/>
              <a:t>Anjali Gour		EN23CS301136</a:t>
            </a:r>
          </a:p>
        </p:txBody>
      </p:sp>
      <p:sp>
        <p:nvSpPr>
          <p:cNvPr id="5" name="Subtitle 2">
            <a:extLst>
              <a:ext uri="{FF2B5EF4-FFF2-40B4-BE49-F238E27FC236}">
                <a16:creationId xmlns:a16="http://schemas.microsoft.com/office/drawing/2014/main" id="{594BE410-6972-2210-CE4D-A3688C2BD2B2}"/>
              </a:ext>
            </a:extLst>
          </p:cNvPr>
          <p:cNvSpPr>
            <a:spLocks noGrp="1"/>
          </p:cNvSpPr>
          <p:nvPr>
            <p:ph type="subTitle" idx="1"/>
          </p:nvPr>
        </p:nvSpPr>
        <p:spPr>
          <a:xfrm>
            <a:off x="8133521" y="4840345"/>
            <a:ext cx="3611218" cy="1371609"/>
          </a:xfrm>
        </p:spPr>
        <p:txBody>
          <a:bodyPr>
            <a:noAutofit/>
          </a:bodyPr>
          <a:lstStyle/>
          <a:p>
            <a:r>
              <a:rPr lang="en-US" sz="2000" b="1" dirty="0">
                <a:latin typeface="+mn-lt"/>
              </a:rPr>
              <a:t>Guided By </a:t>
            </a:r>
          </a:p>
          <a:p>
            <a:r>
              <a:rPr lang="en-US" sz="2000" b="1" dirty="0">
                <a:latin typeface="+mn-lt"/>
              </a:rPr>
              <a:t>Prof. Deepika Saraswat</a:t>
            </a:r>
          </a:p>
          <a:p>
            <a:r>
              <a:rPr lang="en-US" sz="2000" b="1" dirty="0">
                <a:latin typeface="+mn-lt"/>
              </a:rPr>
              <a:t>Prof. Jyotsana Goyal</a:t>
            </a:r>
          </a:p>
        </p:txBody>
      </p:sp>
      <p:sp>
        <p:nvSpPr>
          <p:cNvPr id="6" name="Google Shape;114;p14">
            <a:extLst>
              <a:ext uri="{FF2B5EF4-FFF2-40B4-BE49-F238E27FC236}">
                <a16:creationId xmlns:a16="http://schemas.microsoft.com/office/drawing/2014/main" id="{0BF2459C-C2D5-F543-65BD-ABB74D6A0B3E}"/>
              </a:ext>
            </a:extLst>
          </p:cNvPr>
          <p:cNvSpPr txBox="1">
            <a:spLocks/>
          </p:cNvSpPr>
          <p:nvPr/>
        </p:nvSpPr>
        <p:spPr>
          <a:xfrm>
            <a:off x="1030355" y="3646681"/>
            <a:ext cx="9144000" cy="994145"/>
          </a:xfrm>
          <a:prstGeom prst="rect">
            <a:avLst/>
          </a:prstGeom>
          <a:noFill/>
          <a:ln>
            <a:noFill/>
          </a:ln>
        </p:spPr>
        <p:txBody>
          <a:bodyPr spcFirstLastPara="1" vert="horz" wrap="square" lIns="91425" tIns="45700" rIns="91425" bIns="45700" rtlCol="0" anchor="t" anchorCtr="0">
            <a:normAutofit fontScale="92500" lnSpcReduction="10000"/>
          </a:bodyPr>
          <a:lstStyle>
            <a:lvl1pPr marL="0" indent="0" algn="l" defTabSz="914400" rtl="0" eaLnBrk="1" latinLnBrk="0" hangingPunct="1">
              <a:lnSpc>
                <a:spcPct val="90000"/>
              </a:lnSpc>
              <a:spcBef>
                <a:spcPts val="1000"/>
              </a:spcBef>
              <a:buFont typeface="Arial" panose="020B0604020202020204" pitchFamily="34" charset="0"/>
              <a:buNone/>
              <a:defRPr sz="3600" kern="1200">
                <a:solidFill>
                  <a:schemeClr val="bg1"/>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0"/>
              </a:spcBef>
              <a:buClr>
                <a:schemeClr val="lt1"/>
              </a:buClr>
              <a:buSzPts val="3600"/>
            </a:pPr>
            <a:r>
              <a:rPr lang="en-US" dirty="0"/>
              <a:t>Presentation 3</a:t>
            </a:r>
          </a:p>
          <a:p>
            <a:pPr>
              <a:spcBef>
                <a:spcPts val="0"/>
              </a:spcBef>
              <a:buClr>
                <a:schemeClr val="lt1"/>
              </a:buClr>
              <a:buSzPts val="3600"/>
            </a:pPr>
            <a:r>
              <a:rPr lang="en-US" dirty="0"/>
              <a:t>Modules Update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89BED-9991-4511-8E56-B840D096B3AF}"/>
              </a:ext>
            </a:extLst>
          </p:cNvPr>
          <p:cNvSpPr>
            <a:spLocks noGrp="1"/>
          </p:cNvSpPr>
          <p:nvPr>
            <p:ph type="title"/>
          </p:nvPr>
        </p:nvSpPr>
        <p:spPr>
          <a:xfrm>
            <a:off x="838199" y="169682"/>
            <a:ext cx="10515600" cy="1325563"/>
          </a:xfrm>
        </p:spPr>
        <p:txBody>
          <a:bodyPr>
            <a:normAutofit/>
          </a:bodyPr>
          <a:lstStyle/>
          <a:p>
            <a:r>
              <a:rPr lang="en-US" sz="3600" dirty="0"/>
              <a:t>Working of </a:t>
            </a:r>
            <a:r>
              <a:rPr lang="en-US" sz="3600" b="1" dirty="0"/>
              <a:t>Metadata Extraction </a:t>
            </a:r>
            <a:r>
              <a:rPr lang="en-US" sz="3600" dirty="0"/>
              <a:t>Module</a:t>
            </a:r>
          </a:p>
        </p:txBody>
      </p:sp>
      <p:sp>
        <p:nvSpPr>
          <p:cNvPr id="3" name="Content Placeholder 2">
            <a:extLst>
              <a:ext uri="{FF2B5EF4-FFF2-40B4-BE49-F238E27FC236}">
                <a16:creationId xmlns:a16="http://schemas.microsoft.com/office/drawing/2014/main" id="{5BCF0D38-FA68-09E4-0AA7-0D1685591CD9}"/>
              </a:ext>
            </a:extLst>
          </p:cNvPr>
          <p:cNvSpPr>
            <a:spLocks noGrp="1"/>
          </p:cNvSpPr>
          <p:nvPr>
            <p:ph idx="1"/>
          </p:nvPr>
        </p:nvSpPr>
        <p:spPr>
          <a:xfrm>
            <a:off x="838199" y="1479745"/>
            <a:ext cx="11151704" cy="4488107"/>
          </a:xfrm>
        </p:spPr>
        <p:txBody>
          <a:bodyPr>
            <a:normAutofit fontScale="92500" lnSpcReduction="20000"/>
          </a:bodyPr>
          <a:lstStyle/>
          <a:p>
            <a:r>
              <a:rPr lang="en-US" sz="2400" dirty="0"/>
              <a:t>The Metadata Extraction Module is designed to automatically retrieve essential information from a user-provided learning resource link. The process begins at the frontend, where the user enters a URL and initiates the extraction request.</a:t>
            </a:r>
          </a:p>
          <a:p>
            <a:r>
              <a:rPr lang="en-US" sz="2400" dirty="0"/>
              <a:t>This request is handled using JavaScript, which sends the link to the backend through a POST request. On the server side, the PHP script processes the request by fetching the HTML content of the given webpage. The retrieved HTML is then parsed using a DOM-based approach to identify relevant metadata elements.</a:t>
            </a:r>
          </a:p>
          <a:p>
            <a:r>
              <a:rPr lang="en-US" sz="2400" dirty="0"/>
              <a:t>The system primarily looks for Open Graph meta tags such as </a:t>
            </a:r>
            <a:r>
              <a:rPr lang="en-US" sz="2400" i="1" dirty="0"/>
              <a:t>title</a:t>
            </a:r>
            <a:r>
              <a:rPr lang="en-US" sz="2400" dirty="0"/>
              <a:t>, </a:t>
            </a:r>
            <a:r>
              <a:rPr lang="en-US" sz="2400" i="1" dirty="0"/>
              <a:t>description</a:t>
            </a:r>
            <a:r>
              <a:rPr lang="en-US" sz="2400" dirty="0"/>
              <a:t>, and </a:t>
            </a:r>
            <a:r>
              <a:rPr lang="en-US" sz="2400" i="1" dirty="0"/>
              <a:t>site name</a:t>
            </a:r>
            <a:r>
              <a:rPr lang="en-US" sz="2400" dirty="0"/>
              <a:t>, which are commonly used by modern websites to describe their content. In cases where Open Graph data is not available, the system attempts to extract fallback metadata such as the standard meta description.</a:t>
            </a:r>
          </a:p>
          <a:p>
            <a:r>
              <a:rPr lang="en-US" sz="2400" dirty="0"/>
              <a:t>Once the relevant information is collected, it is structured into a JSON response and sent back to the frontend, where it is dynamically displayed to the user in a structured preview format.</a:t>
            </a:r>
          </a:p>
        </p:txBody>
      </p:sp>
      <p:sp>
        <p:nvSpPr>
          <p:cNvPr id="4" name="Slide Number Placeholder 3">
            <a:extLst>
              <a:ext uri="{FF2B5EF4-FFF2-40B4-BE49-F238E27FC236}">
                <a16:creationId xmlns:a16="http://schemas.microsoft.com/office/drawing/2014/main" id="{20049E90-393B-0DDA-3FCB-DE78D4A64CF7}"/>
              </a:ext>
            </a:extLst>
          </p:cNvPr>
          <p:cNvSpPr>
            <a:spLocks noGrp="1"/>
          </p:cNvSpPr>
          <p:nvPr>
            <p:ph type="sldNum" sz="quarter" idx="4"/>
          </p:nvPr>
        </p:nvSpPr>
        <p:spPr/>
        <p:txBody>
          <a:bodyPr/>
          <a:lstStyle/>
          <a:p>
            <a:fld id="{94599A10-5031-416A-8935-40C3BCBA0AF7}" type="slidenum">
              <a:rPr lang="en-US" smtClean="0"/>
              <a:pPr/>
              <a:t>2</a:t>
            </a:fld>
            <a:endParaRPr lang="en-US" dirty="0"/>
          </a:p>
        </p:txBody>
      </p:sp>
      <p:cxnSp>
        <p:nvCxnSpPr>
          <p:cNvPr id="11" name="Straight Connector 10">
            <a:extLst>
              <a:ext uri="{FF2B5EF4-FFF2-40B4-BE49-F238E27FC236}">
                <a16:creationId xmlns:a16="http://schemas.microsoft.com/office/drawing/2014/main" id="{2959084E-2A94-93E2-EDDE-32EACBF01643}"/>
              </a:ext>
            </a:extLst>
          </p:cNvPr>
          <p:cNvCxnSpPr>
            <a:cxnSpLocks/>
          </p:cNvCxnSpPr>
          <p:nvPr/>
        </p:nvCxnSpPr>
        <p:spPr>
          <a:xfrm>
            <a:off x="838200" y="1316343"/>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36745F0-24AC-C1FC-FD2F-9E8515345474}"/>
              </a:ext>
            </a:extLst>
          </p:cNvPr>
          <p:cNvCxnSpPr>
            <a:cxnSpLocks/>
          </p:cNvCxnSpPr>
          <p:nvPr/>
        </p:nvCxnSpPr>
        <p:spPr>
          <a:xfrm>
            <a:off x="4336211" y="1316343"/>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8980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FB56A-A319-F469-8ABD-F9C678E057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065F3F-05B8-A92F-A758-C5E970BA6C4B}"/>
              </a:ext>
            </a:extLst>
          </p:cNvPr>
          <p:cNvSpPr>
            <a:spLocks noGrp="1"/>
          </p:cNvSpPr>
          <p:nvPr>
            <p:ph type="title"/>
          </p:nvPr>
        </p:nvSpPr>
        <p:spPr>
          <a:xfrm>
            <a:off x="838199" y="169682"/>
            <a:ext cx="10515600" cy="1325563"/>
          </a:xfrm>
        </p:spPr>
        <p:txBody>
          <a:bodyPr>
            <a:normAutofit/>
          </a:bodyPr>
          <a:lstStyle/>
          <a:p>
            <a:r>
              <a:rPr lang="en-IN" sz="3600" dirty="0"/>
              <a:t>Handling Missing or Unavailable Metadata</a:t>
            </a:r>
            <a:endParaRPr lang="en-US" sz="3600" dirty="0"/>
          </a:p>
        </p:txBody>
      </p:sp>
      <p:sp>
        <p:nvSpPr>
          <p:cNvPr id="3" name="Content Placeholder 2">
            <a:extLst>
              <a:ext uri="{FF2B5EF4-FFF2-40B4-BE49-F238E27FC236}">
                <a16:creationId xmlns:a16="http://schemas.microsoft.com/office/drawing/2014/main" id="{6C2EBB63-42C6-AFEC-EF18-B7BE02930395}"/>
              </a:ext>
            </a:extLst>
          </p:cNvPr>
          <p:cNvSpPr>
            <a:spLocks noGrp="1"/>
          </p:cNvSpPr>
          <p:nvPr>
            <p:ph idx="1"/>
          </p:nvPr>
        </p:nvSpPr>
        <p:spPr>
          <a:xfrm>
            <a:off x="838199" y="1479745"/>
            <a:ext cx="11151704" cy="4488107"/>
          </a:xfrm>
        </p:spPr>
        <p:txBody>
          <a:bodyPr>
            <a:normAutofit fontScale="92500" lnSpcReduction="20000"/>
          </a:bodyPr>
          <a:lstStyle/>
          <a:p>
            <a:r>
              <a:rPr lang="en-US" sz="2400" dirty="0"/>
              <a:t>In practical scenarios, not all websites provide complete or structured metadata. The module is designed to handle such cases gracefully to ensure system stability and usability.</a:t>
            </a:r>
          </a:p>
          <a:p>
            <a:r>
              <a:rPr lang="en-US" sz="2400" dirty="0"/>
              <a:t>If the webpage does not contain Open Graph tags or standard metadata fields, the extracted values may remain empty. In such situations, the system does not fail abruptly; instead, it returns whatever partial data is available. If no meaningful data can be retrieved at all, an error response is generated, indicating that metadata extraction was unsuccessful.</a:t>
            </a:r>
          </a:p>
          <a:p>
            <a:r>
              <a:rPr lang="en-US" sz="2400" dirty="0"/>
              <a:t>Additionally, if the system is unable to access the webpage—due to invalid URLs, network restrictions, or unsupported sources—it returns an error message such as “Unable to fetch page.” This ensures that the user is clearly informed about the issue.</a:t>
            </a:r>
          </a:p>
          <a:p>
            <a:r>
              <a:rPr lang="en-US" sz="2400" dirty="0"/>
              <a:t>This approach maintains robustness by preventing crashes and providing clear feedback, while also highlighting the limitations of metadata availability across different web platforms.</a:t>
            </a:r>
          </a:p>
        </p:txBody>
      </p:sp>
      <p:sp>
        <p:nvSpPr>
          <p:cNvPr id="4" name="Slide Number Placeholder 3">
            <a:extLst>
              <a:ext uri="{FF2B5EF4-FFF2-40B4-BE49-F238E27FC236}">
                <a16:creationId xmlns:a16="http://schemas.microsoft.com/office/drawing/2014/main" id="{11DFD984-B700-02AF-B683-3AA49D9C0317}"/>
              </a:ext>
            </a:extLst>
          </p:cNvPr>
          <p:cNvSpPr>
            <a:spLocks noGrp="1"/>
          </p:cNvSpPr>
          <p:nvPr>
            <p:ph type="sldNum" sz="quarter" idx="4"/>
          </p:nvPr>
        </p:nvSpPr>
        <p:spPr/>
        <p:txBody>
          <a:bodyPr/>
          <a:lstStyle/>
          <a:p>
            <a:fld id="{94599A10-5031-416A-8935-40C3BCBA0AF7}" type="slidenum">
              <a:rPr lang="en-US" smtClean="0"/>
              <a:pPr/>
              <a:t>3</a:t>
            </a:fld>
            <a:endParaRPr lang="en-US" dirty="0"/>
          </a:p>
        </p:txBody>
      </p:sp>
      <p:cxnSp>
        <p:nvCxnSpPr>
          <p:cNvPr id="11" name="Straight Connector 10">
            <a:extLst>
              <a:ext uri="{FF2B5EF4-FFF2-40B4-BE49-F238E27FC236}">
                <a16:creationId xmlns:a16="http://schemas.microsoft.com/office/drawing/2014/main" id="{5E0A5F45-136B-F270-5EAD-1A140DA14A08}"/>
              </a:ext>
            </a:extLst>
          </p:cNvPr>
          <p:cNvCxnSpPr>
            <a:cxnSpLocks/>
          </p:cNvCxnSpPr>
          <p:nvPr/>
        </p:nvCxnSpPr>
        <p:spPr>
          <a:xfrm>
            <a:off x="838200" y="1316343"/>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7332CC1-6A97-86AA-13B8-E159F5F3C900}"/>
              </a:ext>
            </a:extLst>
          </p:cNvPr>
          <p:cNvCxnSpPr>
            <a:cxnSpLocks/>
          </p:cNvCxnSpPr>
          <p:nvPr/>
        </p:nvCxnSpPr>
        <p:spPr>
          <a:xfrm>
            <a:off x="4336211" y="1316343"/>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1288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6EC3C-8356-9010-094D-C11FD23953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63DA2A-11F2-52CD-E960-C42CE65E8361}"/>
              </a:ext>
            </a:extLst>
          </p:cNvPr>
          <p:cNvSpPr>
            <a:spLocks noGrp="1"/>
          </p:cNvSpPr>
          <p:nvPr>
            <p:ph type="title"/>
          </p:nvPr>
        </p:nvSpPr>
        <p:spPr>
          <a:xfrm>
            <a:off x="838199" y="169682"/>
            <a:ext cx="10515600" cy="1325563"/>
          </a:xfrm>
        </p:spPr>
        <p:txBody>
          <a:bodyPr>
            <a:normAutofit/>
          </a:bodyPr>
          <a:lstStyle/>
          <a:p>
            <a:r>
              <a:rPr lang="en-IN" sz="3600" dirty="0"/>
              <a:t>Handling Missing or Unavailable Metadata</a:t>
            </a:r>
            <a:endParaRPr lang="en-US" sz="3600" dirty="0"/>
          </a:p>
        </p:txBody>
      </p:sp>
      <p:sp>
        <p:nvSpPr>
          <p:cNvPr id="3" name="Content Placeholder 2">
            <a:extLst>
              <a:ext uri="{FF2B5EF4-FFF2-40B4-BE49-F238E27FC236}">
                <a16:creationId xmlns:a16="http://schemas.microsoft.com/office/drawing/2014/main" id="{3B6E5C98-FE49-99CE-387D-84EFADFA03BF}"/>
              </a:ext>
            </a:extLst>
          </p:cNvPr>
          <p:cNvSpPr>
            <a:spLocks noGrp="1"/>
          </p:cNvSpPr>
          <p:nvPr>
            <p:ph idx="1"/>
          </p:nvPr>
        </p:nvSpPr>
        <p:spPr>
          <a:xfrm>
            <a:off x="838199" y="1479745"/>
            <a:ext cx="11151704" cy="4488107"/>
          </a:xfrm>
        </p:spPr>
        <p:txBody>
          <a:bodyPr>
            <a:normAutofit lnSpcReduction="10000"/>
          </a:bodyPr>
          <a:lstStyle/>
          <a:p>
            <a:r>
              <a:rPr lang="en-US" sz="2400" dirty="0"/>
              <a:t>The Metadata Extraction Module has been successfully developed and is currently being tested as a standalone component in a local development environment using XAMPP. This setup allows for efficient testing, debugging, and iterative improvements before integration into the main system.</a:t>
            </a:r>
          </a:p>
          <a:p>
            <a:r>
              <a:rPr lang="en-US" sz="2400" dirty="0"/>
              <a:t>At present, the module demonstrates the core capability of extracting and displaying metadata in a structured format. However, it is not yet integrated with the full Learning Reflection Platform.</a:t>
            </a:r>
          </a:p>
          <a:p>
            <a:r>
              <a:rPr lang="en-US" sz="2400" dirty="0"/>
              <a:t>In future stages, this module will be incorporated into the Learning Item Management workflow, enabling automatic population of resource details when users add new learning links. The system is also planned to be deployed on a live server environment, along with enhancements such as richer metadata extraction and improved compatibility with dynamic websites.</a:t>
            </a:r>
          </a:p>
        </p:txBody>
      </p:sp>
      <p:sp>
        <p:nvSpPr>
          <p:cNvPr id="4" name="Slide Number Placeholder 3">
            <a:extLst>
              <a:ext uri="{FF2B5EF4-FFF2-40B4-BE49-F238E27FC236}">
                <a16:creationId xmlns:a16="http://schemas.microsoft.com/office/drawing/2014/main" id="{252F7CB0-BE33-5E44-A933-F4746395CD80}"/>
              </a:ext>
            </a:extLst>
          </p:cNvPr>
          <p:cNvSpPr>
            <a:spLocks noGrp="1"/>
          </p:cNvSpPr>
          <p:nvPr>
            <p:ph type="sldNum" sz="quarter" idx="4"/>
          </p:nvPr>
        </p:nvSpPr>
        <p:spPr/>
        <p:txBody>
          <a:bodyPr/>
          <a:lstStyle/>
          <a:p>
            <a:fld id="{94599A10-5031-416A-8935-40C3BCBA0AF7}" type="slidenum">
              <a:rPr lang="en-US" smtClean="0"/>
              <a:pPr/>
              <a:t>4</a:t>
            </a:fld>
            <a:endParaRPr lang="en-US" dirty="0"/>
          </a:p>
        </p:txBody>
      </p:sp>
      <p:cxnSp>
        <p:nvCxnSpPr>
          <p:cNvPr id="11" name="Straight Connector 10">
            <a:extLst>
              <a:ext uri="{FF2B5EF4-FFF2-40B4-BE49-F238E27FC236}">
                <a16:creationId xmlns:a16="http://schemas.microsoft.com/office/drawing/2014/main" id="{9CE740B3-535C-2DD4-50F0-2930DE2CBAFA}"/>
              </a:ext>
            </a:extLst>
          </p:cNvPr>
          <p:cNvCxnSpPr>
            <a:cxnSpLocks/>
          </p:cNvCxnSpPr>
          <p:nvPr/>
        </p:nvCxnSpPr>
        <p:spPr>
          <a:xfrm>
            <a:off x="838200" y="1316343"/>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C6D806F-3CDC-3CFF-9836-9D5EC2990EFA}"/>
              </a:ext>
            </a:extLst>
          </p:cNvPr>
          <p:cNvCxnSpPr>
            <a:cxnSpLocks/>
          </p:cNvCxnSpPr>
          <p:nvPr/>
        </p:nvCxnSpPr>
        <p:spPr>
          <a:xfrm>
            <a:off x="4336211" y="1316343"/>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9295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72700-31C1-F6E4-4BF3-668D250F42A9}"/>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6209B42D-DDB3-853E-1D62-14C8DE3A9B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8175" y="1058645"/>
            <a:ext cx="10233786" cy="5799355"/>
          </a:xfrm>
          <a:prstGeom prst="rect">
            <a:avLst/>
          </a:prstGeom>
        </p:spPr>
      </p:pic>
      <p:sp>
        <p:nvSpPr>
          <p:cNvPr id="13" name="Title 1">
            <a:extLst>
              <a:ext uri="{FF2B5EF4-FFF2-40B4-BE49-F238E27FC236}">
                <a16:creationId xmlns:a16="http://schemas.microsoft.com/office/drawing/2014/main" id="{DCF3A33C-5FA3-C81A-B564-BCA5250ED246}"/>
              </a:ext>
            </a:extLst>
          </p:cNvPr>
          <p:cNvSpPr>
            <a:spLocks noGrp="1"/>
          </p:cNvSpPr>
          <p:nvPr>
            <p:ph type="title"/>
          </p:nvPr>
        </p:nvSpPr>
        <p:spPr>
          <a:xfrm>
            <a:off x="788175" y="169682"/>
            <a:ext cx="10515600" cy="888963"/>
          </a:xfrm>
        </p:spPr>
        <p:txBody>
          <a:bodyPr>
            <a:normAutofit/>
          </a:bodyPr>
          <a:lstStyle/>
          <a:p>
            <a:r>
              <a:rPr lang="en-IN" sz="3600" dirty="0"/>
              <a:t>Workflow of </a:t>
            </a:r>
            <a:r>
              <a:rPr lang="en-US" sz="3600" b="1" dirty="0"/>
              <a:t>Metadata Extraction </a:t>
            </a:r>
            <a:r>
              <a:rPr lang="en-US" sz="3600" dirty="0"/>
              <a:t>Module</a:t>
            </a:r>
            <a:r>
              <a:rPr lang="en-IN" sz="3600" dirty="0"/>
              <a:t> </a:t>
            </a:r>
            <a:endParaRPr lang="en-US" sz="3600" dirty="0"/>
          </a:p>
        </p:txBody>
      </p:sp>
    </p:spTree>
    <p:extLst>
      <p:ext uri="{BB962C8B-B14F-4D97-AF65-F5344CB8AC3E}">
        <p14:creationId xmlns:p14="http://schemas.microsoft.com/office/powerpoint/2010/main" val="1243924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8CBFE-5555-A6C3-79E2-24BC3DE6A8F2}"/>
              </a:ext>
            </a:extLst>
          </p:cNvPr>
          <p:cNvSpPr>
            <a:spLocks noGrp="1"/>
          </p:cNvSpPr>
          <p:nvPr>
            <p:ph type="title"/>
          </p:nvPr>
        </p:nvSpPr>
        <p:spPr/>
        <p:txBody>
          <a:bodyPr/>
          <a:lstStyle/>
          <a:p>
            <a:r>
              <a:rPr lang="en-IN" b="1" dirty="0"/>
              <a:t>Metadata Extractor in Working</a:t>
            </a:r>
            <a:endParaRPr lang="en-IN" dirty="0"/>
          </a:p>
        </p:txBody>
      </p:sp>
      <p:pic>
        <p:nvPicPr>
          <p:cNvPr id="6" name="Content Placeholder 5">
            <a:extLst>
              <a:ext uri="{FF2B5EF4-FFF2-40B4-BE49-F238E27FC236}">
                <a16:creationId xmlns:a16="http://schemas.microsoft.com/office/drawing/2014/main" id="{3EC4AC9F-797A-FD43-3D67-74EF298EE91D}"/>
              </a:ext>
            </a:extLst>
          </p:cNvPr>
          <p:cNvPicPr>
            <a:picLocks noGrp="1" noChangeAspect="1"/>
          </p:cNvPicPr>
          <p:nvPr>
            <p:ph idx="1"/>
          </p:nvPr>
        </p:nvPicPr>
        <p:blipFill>
          <a:blip r:embed="rId2"/>
          <a:stretch>
            <a:fillRect/>
          </a:stretch>
        </p:blipFill>
        <p:spPr>
          <a:xfrm>
            <a:off x="6140278" y="1835458"/>
            <a:ext cx="5213522" cy="4351338"/>
          </a:xfrm>
          <a:prstGeom prst="rect">
            <a:avLst/>
          </a:prstGeom>
        </p:spPr>
      </p:pic>
      <p:sp>
        <p:nvSpPr>
          <p:cNvPr id="4" name="Slide Number Placeholder 3">
            <a:extLst>
              <a:ext uri="{FF2B5EF4-FFF2-40B4-BE49-F238E27FC236}">
                <a16:creationId xmlns:a16="http://schemas.microsoft.com/office/drawing/2014/main" id="{2E2D40F0-BED8-4F87-F7C3-CADB86ED3776}"/>
              </a:ext>
            </a:extLst>
          </p:cNvPr>
          <p:cNvSpPr>
            <a:spLocks noGrp="1"/>
          </p:cNvSpPr>
          <p:nvPr>
            <p:ph type="sldNum" sz="quarter" idx="4"/>
          </p:nvPr>
        </p:nvSpPr>
        <p:spPr/>
        <p:txBody>
          <a:bodyPr/>
          <a:lstStyle/>
          <a:p>
            <a:fld id="{94599A10-5031-416A-8935-40C3BCBA0AF7}" type="slidenum">
              <a:rPr lang="en-US" smtClean="0"/>
              <a:pPr/>
              <a:t>6</a:t>
            </a:fld>
            <a:endParaRPr lang="en-US" dirty="0"/>
          </a:p>
        </p:txBody>
      </p:sp>
      <p:pic>
        <p:nvPicPr>
          <p:cNvPr id="8" name="Picture 7">
            <a:extLst>
              <a:ext uri="{FF2B5EF4-FFF2-40B4-BE49-F238E27FC236}">
                <a16:creationId xmlns:a16="http://schemas.microsoft.com/office/drawing/2014/main" id="{6717A9E3-C7B3-13FA-C63E-7B70CAD0298B}"/>
              </a:ext>
            </a:extLst>
          </p:cNvPr>
          <p:cNvPicPr>
            <a:picLocks noChangeAspect="1"/>
          </p:cNvPicPr>
          <p:nvPr/>
        </p:nvPicPr>
        <p:blipFill>
          <a:blip r:embed="rId3"/>
          <a:srcRect b="6034"/>
          <a:stretch>
            <a:fillRect/>
          </a:stretch>
        </p:blipFill>
        <p:spPr>
          <a:xfrm>
            <a:off x="838201" y="1835458"/>
            <a:ext cx="5213522" cy="4351338"/>
          </a:xfrm>
          <a:prstGeom prst="rect">
            <a:avLst/>
          </a:prstGeom>
        </p:spPr>
      </p:pic>
    </p:spTree>
    <p:extLst>
      <p:ext uri="{BB962C8B-B14F-4D97-AF65-F5344CB8AC3E}">
        <p14:creationId xmlns:p14="http://schemas.microsoft.com/office/powerpoint/2010/main" val="2068669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EB89C-AD77-F38A-1253-185F1F34D0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4E341F-907D-4E7C-0B3E-8BEA810E20C0}"/>
              </a:ext>
            </a:extLst>
          </p:cNvPr>
          <p:cNvSpPr>
            <a:spLocks noGrp="1"/>
          </p:cNvSpPr>
          <p:nvPr>
            <p:ph type="title"/>
          </p:nvPr>
        </p:nvSpPr>
        <p:spPr>
          <a:xfrm>
            <a:off x="838199" y="169682"/>
            <a:ext cx="10515600" cy="1325563"/>
          </a:xfrm>
        </p:spPr>
        <p:txBody>
          <a:bodyPr>
            <a:normAutofit/>
          </a:bodyPr>
          <a:lstStyle/>
          <a:p>
            <a:r>
              <a:rPr lang="en-US" sz="4000" dirty="0"/>
              <a:t>User Authentication System</a:t>
            </a:r>
          </a:p>
        </p:txBody>
      </p:sp>
      <p:sp>
        <p:nvSpPr>
          <p:cNvPr id="3" name="Content Placeholder 2">
            <a:extLst>
              <a:ext uri="{FF2B5EF4-FFF2-40B4-BE49-F238E27FC236}">
                <a16:creationId xmlns:a16="http://schemas.microsoft.com/office/drawing/2014/main" id="{66938F23-48D3-F26A-CAA2-B10014C82755}"/>
              </a:ext>
            </a:extLst>
          </p:cNvPr>
          <p:cNvSpPr>
            <a:spLocks noGrp="1"/>
          </p:cNvSpPr>
          <p:nvPr>
            <p:ph idx="1"/>
          </p:nvPr>
        </p:nvSpPr>
        <p:spPr>
          <a:xfrm>
            <a:off x="838199" y="1479745"/>
            <a:ext cx="11151704" cy="4488107"/>
          </a:xfrm>
        </p:spPr>
        <p:txBody>
          <a:bodyPr>
            <a:noAutofit/>
          </a:bodyPr>
          <a:lstStyle/>
          <a:p>
            <a:pPr marL="0" indent="0">
              <a:buNone/>
            </a:pPr>
            <a:r>
              <a:rPr lang="en-US" sz="3200" b="1" dirty="0"/>
              <a:t>Overview</a:t>
            </a:r>
            <a:br>
              <a:rPr lang="en-US" sz="3200" dirty="0"/>
            </a:br>
            <a:r>
              <a:rPr lang="en-US" dirty="0"/>
              <a:t>Provides secure access to the platform </a:t>
            </a:r>
            <a:br>
              <a:rPr lang="en-US" dirty="0"/>
            </a:br>
            <a:r>
              <a:rPr lang="en-US" dirty="0"/>
              <a:t>Enables user registration and login </a:t>
            </a:r>
            <a:br>
              <a:rPr lang="en-US" dirty="0"/>
            </a:br>
            <a:r>
              <a:rPr lang="en-US" dirty="0"/>
              <a:t>Restricts access to authorized users only </a:t>
            </a:r>
            <a:br>
              <a:rPr lang="en-US" dirty="0"/>
            </a:br>
            <a:r>
              <a:rPr lang="en-US" dirty="0"/>
              <a:t>Serves as the </a:t>
            </a:r>
            <a:r>
              <a:rPr lang="en-US" b="1" dirty="0"/>
              <a:t>entry point</a:t>
            </a:r>
            <a:r>
              <a:rPr lang="en-US" dirty="0"/>
              <a:t> to the application </a:t>
            </a:r>
            <a:br>
              <a:rPr lang="en-US" sz="3200" dirty="0"/>
            </a:br>
            <a:r>
              <a:rPr lang="en-US" sz="3200" b="1" dirty="0"/>
              <a:t>Purpose</a:t>
            </a:r>
            <a:br>
              <a:rPr lang="en-US" sz="3200" dirty="0"/>
            </a:br>
            <a:r>
              <a:rPr lang="en-US" dirty="0"/>
              <a:t>Protect sensitive user data </a:t>
            </a:r>
            <a:br>
              <a:rPr lang="en-US" dirty="0"/>
            </a:br>
            <a:r>
              <a:rPr lang="en-US" dirty="0"/>
              <a:t>Enable </a:t>
            </a:r>
            <a:r>
              <a:rPr lang="en-US" b="1" dirty="0"/>
              <a:t>personalized dashboards</a:t>
            </a:r>
            <a:r>
              <a:rPr lang="en-US" dirty="0"/>
              <a:t> </a:t>
            </a:r>
            <a:br>
              <a:rPr lang="en-US" dirty="0"/>
            </a:br>
            <a:r>
              <a:rPr lang="en-US" dirty="0"/>
              <a:t>Support </a:t>
            </a:r>
            <a:r>
              <a:rPr lang="en-US" b="1" dirty="0"/>
              <a:t>learning progress tracking</a:t>
            </a:r>
            <a:endParaRPr lang="en-US" sz="3200" dirty="0"/>
          </a:p>
        </p:txBody>
      </p:sp>
      <p:sp>
        <p:nvSpPr>
          <p:cNvPr id="4" name="Slide Number Placeholder 3">
            <a:extLst>
              <a:ext uri="{FF2B5EF4-FFF2-40B4-BE49-F238E27FC236}">
                <a16:creationId xmlns:a16="http://schemas.microsoft.com/office/drawing/2014/main" id="{552ED4F1-9C33-7902-175D-D2310DA3DE3B}"/>
              </a:ext>
            </a:extLst>
          </p:cNvPr>
          <p:cNvSpPr>
            <a:spLocks noGrp="1"/>
          </p:cNvSpPr>
          <p:nvPr>
            <p:ph type="sldNum" sz="quarter" idx="4"/>
          </p:nvPr>
        </p:nvSpPr>
        <p:spPr/>
        <p:txBody>
          <a:bodyPr/>
          <a:lstStyle/>
          <a:p>
            <a:fld id="{94599A10-5031-416A-8935-40C3BCBA0AF7}" type="slidenum">
              <a:rPr lang="en-US" smtClean="0"/>
              <a:pPr/>
              <a:t>7</a:t>
            </a:fld>
            <a:endParaRPr lang="en-US" dirty="0"/>
          </a:p>
        </p:txBody>
      </p:sp>
      <p:cxnSp>
        <p:nvCxnSpPr>
          <p:cNvPr id="11" name="Straight Connector 10">
            <a:extLst>
              <a:ext uri="{FF2B5EF4-FFF2-40B4-BE49-F238E27FC236}">
                <a16:creationId xmlns:a16="http://schemas.microsoft.com/office/drawing/2014/main" id="{0F437D7F-A517-1F9A-FDE9-CA2AAEB97A39}"/>
              </a:ext>
            </a:extLst>
          </p:cNvPr>
          <p:cNvCxnSpPr>
            <a:cxnSpLocks/>
          </p:cNvCxnSpPr>
          <p:nvPr/>
        </p:nvCxnSpPr>
        <p:spPr>
          <a:xfrm>
            <a:off x="838200" y="1316343"/>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B1DD3B-B429-8FDC-AB94-81968EB26CC7}"/>
              </a:ext>
            </a:extLst>
          </p:cNvPr>
          <p:cNvCxnSpPr>
            <a:cxnSpLocks/>
          </p:cNvCxnSpPr>
          <p:nvPr/>
        </p:nvCxnSpPr>
        <p:spPr>
          <a:xfrm>
            <a:off x="4336211" y="1316343"/>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8742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7FA96-67B8-6A62-F50A-97A671F60A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D971E7-D437-DA87-FEC1-B763AF9F5300}"/>
              </a:ext>
            </a:extLst>
          </p:cNvPr>
          <p:cNvSpPr>
            <a:spLocks noGrp="1"/>
          </p:cNvSpPr>
          <p:nvPr>
            <p:ph type="title"/>
          </p:nvPr>
        </p:nvSpPr>
        <p:spPr>
          <a:xfrm>
            <a:off x="838199" y="169682"/>
            <a:ext cx="10515600" cy="1325563"/>
          </a:xfrm>
        </p:spPr>
        <p:txBody>
          <a:bodyPr>
            <a:normAutofit/>
          </a:bodyPr>
          <a:lstStyle/>
          <a:p>
            <a:r>
              <a:rPr lang="en-US" sz="3600" dirty="0"/>
              <a:t>Authentication Workflow</a:t>
            </a:r>
          </a:p>
        </p:txBody>
      </p:sp>
      <p:sp>
        <p:nvSpPr>
          <p:cNvPr id="3" name="Content Placeholder 2">
            <a:extLst>
              <a:ext uri="{FF2B5EF4-FFF2-40B4-BE49-F238E27FC236}">
                <a16:creationId xmlns:a16="http://schemas.microsoft.com/office/drawing/2014/main" id="{5AE020CC-468A-F026-08B2-BF7245D53D19}"/>
              </a:ext>
            </a:extLst>
          </p:cNvPr>
          <p:cNvSpPr>
            <a:spLocks noGrp="1"/>
          </p:cNvSpPr>
          <p:nvPr>
            <p:ph idx="1"/>
          </p:nvPr>
        </p:nvSpPr>
        <p:spPr>
          <a:xfrm>
            <a:off x="838199" y="1479745"/>
            <a:ext cx="11151704" cy="4488107"/>
          </a:xfrm>
        </p:spPr>
        <p:txBody>
          <a:bodyPr>
            <a:noAutofit/>
          </a:bodyPr>
          <a:lstStyle/>
          <a:p>
            <a:pPr marL="0" indent="0">
              <a:buNone/>
            </a:pPr>
            <a:r>
              <a:rPr lang="en-US" sz="2000" b="1" dirty="0"/>
              <a:t>Signup Process</a:t>
            </a:r>
            <a:endParaRPr lang="en-US" sz="2000" dirty="0"/>
          </a:p>
          <a:p>
            <a:r>
              <a:rPr lang="en-US" sz="2000" dirty="0"/>
              <a:t>User enters </a:t>
            </a:r>
            <a:r>
              <a:rPr lang="en-US" sz="2000" b="1" dirty="0"/>
              <a:t>name, email, and password</a:t>
            </a:r>
            <a:r>
              <a:rPr lang="en-US" sz="2000" dirty="0"/>
              <a:t> </a:t>
            </a:r>
          </a:p>
          <a:p>
            <a:r>
              <a:rPr lang="en-US" sz="2000" dirty="0"/>
              <a:t>System performs </a:t>
            </a:r>
            <a:r>
              <a:rPr lang="en-US" sz="2000" b="1" dirty="0"/>
              <a:t>input validation</a:t>
            </a:r>
            <a:r>
              <a:rPr lang="en-US" sz="2000" dirty="0"/>
              <a:t> </a:t>
            </a:r>
          </a:p>
          <a:p>
            <a:r>
              <a:rPr lang="en-US" sz="2000" dirty="0"/>
              <a:t>User data is securely stored </a:t>
            </a:r>
          </a:p>
          <a:p>
            <a:pPr marL="0" indent="0">
              <a:buNone/>
            </a:pPr>
            <a:r>
              <a:rPr lang="en-US" sz="2000" b="1" dirty="0"/>
              <a:t>Login Process</a:t>
            </a:r>
            <a:endParaRPr lang="en-US" sz="2000" dirty="0"/>
          </a:p>
          <a:p>
            <a:r>
              <a:rPr lang="en-US" sz="2000" dirty="0"/>
              <a:t>User enters credentials </a:t>
            </a:r>
          </a:p>
          <a:p>
            <a:r>
              <a:rPr lang="en-US" sz="2000" dirty="0"/>
              <a:t>System verifies stored data </a:t>
            </a:r>
          </a:p>
          <a:p>
            <a:r>
              <a:rPr lang="en-US" sz="2000" dirty="0"/>
              <a:t>On success → </a:t>
            </a:r>
            <a:r>
              <a:rPr lang="en-US" sz="2000" b="1" dirty="0"/>
              <a:t>redirect to dashboard</a:t>
            </a:r>
            <a:r>
              <a:rPr lang="en-US" sz="2000" dirty="0"/>
              <a:t> </a:t>
            </a:r>
          </a:p>
          <a:p>
            <a:pPr marL="0" indent="0">
              <a:buNone/>
            </a:pPr>
            <a:r>
              <a:rPr lang="en-US" sz="2000" b="1" dirty="0"/>
              <a:t>Session Handling</a:t>
            </a:r>
            <a:endParaRPr lang="en-US" sz="2000" dirty="0"/>
          </a:p>
          <a:p>
            <a:r>
              <a:rPr lang="en-US" sz="2000" dirty="0"/>
              <a:t>Maintains user login state </a:t>
            </a:r>
          </a:p>
          <a:p>
            <a:r>
              <a:rPr lang="en-US" sz="2000" dirty="0"/>
              <a:t>Prevents unauthorized dashboard access </a:t>
            </a:r>
          </a:p>
          <a:p>
            <a:pPr marL="0" indent="0">
              <a:buNone/>
            </a:pPr>
            <a:endParaRPr lang="en-US" dirty="0"/>
          </a:p>
        </p:txBody>
      </p:sp>
      <p:sp>
        <p:nvSpPr>
          <p:cNvPr id="4" name="Slide Number Placeholder 3">
            <a:extLst>
              <a:ext uri="{FF2B5EF4-FFF2-40B4-BE49-F238E27FC236}">
                <a16:creationId xmlns:a16="http://schemas.microsoft.com/office/drawing/2014/main" id="{48327C71-C700-A414-D187-6DC080801850}"/>
              </a:ext>
            </a:extLst>
          </p:cNvPr>
          <p:cNvSpPr>
            <a:spLocks noGrp="1"/>
          </p:cNvSpPr>
          <p:nvPr>
            <p:ph type="sldNum" sz="quarter" idx="4"/>
          </p:nvPr>
        </p:nvSpPr>
        <p:spPr/>
        <p:txBody>
          <a:bodyPr/>
          <a:lstStyle/>
          <a:p>
            <a:fld id="{94599A10-5031-416A-8935-40C3BCBA0AF7}" type="slidenum">
              <a:rPr lang="en-US" smtClean="0"/>
              <a:pPr/>
              <a:t>8</a:t>
            </a:fld>
            <a:endParaRPr lang="en-US" dirty="0"/>
          </a:p>
        </p:txBody>
      </p:sp>
      <p:cxnSp>
        <p:nvCxnSpPr>
          <p:cNvPr id="11" name="Straight Connector 10">
            <a:extLst>
              <a:ext uri="{FF2B5EF4-FFF2-40B4-BE49-F238E27FC236}">
                <a16:creationId xmlns:a16="http://schemas.microsoft.com/office/drawing/2014/main" id="{B5A579E1-D001-4AB0-D861-F5AA87107026}"/>
              </a:ext>
            </a:extLst>
          </p:cNvPr>
          <p:cNvCxnSpPr>
            <a:cxnSpLocks/>
          </p:cNvCxnSpPr>
          <p:nvPr/>
        </p:nvCxnSpPr>
        <p:spPr>
          <a:xfrm>
            <a:off x="838200" y="1316343"/>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CDCED67-AE4F-6A19-8D3A-B4BFA1417C14}"/>
              </a:ext>
            </a:extLst>
          </p:cNvPr>
          <p:cNvCxnSpPr>
            <a:cxnSpLocks/>
          </p:cNvCxnSpPr>
          <p:nvPr/>
        </p:nvCxnSpPr>
        <p:spPr>
          <a:xfrm>
            <a:off x="4336211" y="1316343"/>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1605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D0F70-4762-6205-E7E8-C67E9A379D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F1F6DB-58D2-5B58-1BE2-03F477012B6B}"/>
              </a:ext>
            </a:extLst>
          </p:cNvPr>
          <p:cNvSpPr>
            <a:spLocks noGrp="1"/>
          </p:cNvSpPr>
          <p:nvPr>
            <p:ph type="title"/>
          </p:nvPr>
        </p:nvSpPr>
        <p:spPr>
          <a:xfrm>
            <a:off x="838199" y="169682"/>
            <a:ext cx="10515600" cy="1325563"/>
          </a:xfrm>
        </p:spPr>
        <p:txBody>
          <a:bodyPr>
            <a:normAutofit/>
          </a:bodyPr>
          <a:lstStyle/>
          <a:p>
            <a:r>
              <a:rPr lang="en-US" sz="3600" dirty="0"/>
              <a:t>Current Implementation</a:t>
            </a:r>
          </a:p>
        </p:txBody>
      </p:sp>
      <p:sp>
        <p:nvSpPr>
          <p:cNvPr id="3" name="Content Placeholder 2">
            <a:extLst>
              <a:ext uri="{FF2B5EF4-FFF2-40B4-BE49-F238E27FC236}">
                <a16:creationId xmlns:a16="http://schemas.microsoft.com/office/drawing/2014/main" id="{1791C242-4821-8BF3-C010-FCFF44B28ECF}"/>
              </a:ext>
            </a:extLst>
          </p:cNvPr>
          <p:cNvSpPr>
            <a:spLocks noGrp="1"/>
          </p:cNvSpPr>
          <p:nvPr>
            <p:ph idx="1"/>
          </p:nvPr>
        </p:nvSpPr>
        <p:spPr>
          <a:xfrm>
            <a:off x="838199" y="1479745"/>
            <a:ext cx="11151704" cy="4488107"/>
          </a:xfrm>
        </p:spPr>
        <p:txBody>
          <a:bodyPr>
            <a:noAutofit/>
          </a:bodyPr>
          <a:lstStyle/>
          <a:p>
            <a:pPr marL="0" indent="0">
              <a:buNone/>
            </a:pPr>
            <a:r>
              <a:rPr lang="en-US" b="1" dirty="0"/>
              <a:t>Architecture</a:t>
            </a:r>
            <a:endParaRPr lang="en-US" dirty="0"/>
          </a:p>
          <a:p>
            <a:r>
              <a:rPr lang="en-US" sz="2400" dirty="0"/>
              <a:t>Client-side authentication model </a:t>
            </a:r>
          </a:p>
          <a:p>
            <a:r>
              <a:rPr lang="en-US" sz="2400" dirty="0"/>
              <a:t>Modular structure separating </a:t>
            </a:r>
            <a:r>
              <a:rPr lang="en-US" sz="2400" b="1" dirty="0"/>
              <a:t>UI and logic</a:t>
            </a:r>
            <a:r>
              <a:rPr lang="en-US" sz="2400" dirty="0"/>
              <a:t> </a:t>
            </a:r>
          </a:p>
          <a:p>
            <a:r>
              <a:rPr lang="en-US" sz="2400" dirty="0"/>
              <a:t>Event-driven handling of user actions </a:t>
            </a:r>
          </a:p>
          <a:p>
            <a:pPr marL="0" indent="0">
              <a:buNone/>
            </a:pPr>
            <a:r>
              <a:rPr lang="en-US" b="1" dirty="0"/>
              <a:t>Core Components</a:t>
            </a:r>
            <a:endParaRPr lang="en-US" dirty="0"/>
          </a:p>
          <a:p>
            <a:r>
              <a:rPr lang="en-US" sz="2400" b="1" dirty="0"/>
              <a:t>Input Validation</a:t>
            </a:r>
            <a:r>
              <a:rPr lang="en-US" sz="2400" dirty="0"/>
              <a:t> – ensures correct user data </a:t>
            </a:r>
          </a:p>
          <a:p>
            <a:r>
              <a:rPr lang="en-US" sz="2400" b="1" dirty="0"/>
              <a:t>Credential Handling</a:t>
            </a:r>
            <a:r>
              <a:rPr lang="en-US" sz="2400" dirty="0"/>
              <a:t> – simulates storage &amp; retrieval </a:t>
            </a:r>
          </a:p>
          <a:p>
            <a:r>
              <a:rPr lang="en-US" sz="2400" b="1" dirty="0"/>
              <a:t>State Management</a:t>
            </a:r>
            <a:r>
              <a:rPr lang="en-US" sz="2400" dirty="0"/>
              <a:t> – maintains login session </a:t>
            </a:r>
          </a:p>
          <a:p>
            <a:pPr marL="0" indent="0">
              <a:buNone/>
            </a:pPr>
            <a:endParaRPr lang="en-US" dirty="0"/>
          </a:p>
        </p:txBody>
      </p:sp>
      <p:sp>
        <p:nvSpPr>
          <p:cNvPr id="4" name="Slide Number Placeholder 3">
            <a:extLst>
              <a:ext uri="{FF2B5EF4-FFF2-40B4-BE49-F238E27FC236}">
                <a16:creationId xmlns:a16="http://schemas.microsoft.com/office/drawing/2014/main" id="{0D493C46-0A22-3313-8C87-8DBAC0941244}"/>
              </a:ext>
            </a:extLst>
          </p:cNvPr>
          <p:cNvSpPr>
            <a:spLocks noGrp="1"/>
          </p:cNvSpPr>
          <p:nvPr>
            <p:ph type="sldNum" sz="quarter" idx="4"/>
          </p:nvPr>
        </p:nvSpPr>
        <p:spPr/>
        <p:txBody>
          <a:bodyPr/>
          <a:lstStyle/>
          <a:p>
            <a:fld id="{94599A10-5031-416A-8935-40C3BCBA0AF7}" type="slidenum">
              <a:rPr lang="en-US" smtClean="0"/>
              <a:pPr/>
              <a:t>9</a:t>
            </a:fld>
            <a:endParaRPr lang="en-US" dirty="0"/>
          </a:p>
        </p:txBody>
      </p:sp>
      <p:cxnSp>
        <p:nvCxnSpPr>
          <p:cNvPr id="11" name="Straight Connector 10">
            <a:extLst>
              <a:ext uri="{FF2B5EF4-FFF2-40B4-BE49-F238E27FC236}">
                <a16:creationId xmlns:a16="http://schemas.microsoft.com/office/drawing/2014/main" id="{BA5A5EC5-7B47-EEDC-7BE8-6864CCD82254}"/>
              </a:ext>
            </a:extLst>
          </p:cNvPr>
          <p:cNvCxnSpPr>
            <a:cxnSpLocks/>
          </p:cNvCxnSpPr>
          <p:nvPr/>
        </p:nvCxnSpPr>
        <p:spPr>
          <a:xfrm>
            <a:off x="838200" y="1316343"/>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45306C3-E4FA-3738-242F-09FE5492D116}"/>
              </a:ext>
            </a:extLst>
          </p:cNvPr>
          <p:cNvCxnSpPr>
            <a:cxnSpLocks/>
          </p:cNvCxnSpPr>
          <p:nvPr/>
        </p:nvCxnSpPr>
        <p:spPr>
          <a:xfrm>
            <a:off x="4336211" y="1316343"/>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8922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71D4D-9EDA-6ADC-AD28-332C5FBB50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F12CDD-68BC-2453-72B8-D943A5ED4607}"/>
              </a:ext>
            </a:extLst>
          </p:cNvPr>
          <p:cNvSpPr>
            <a:spLocks noGrp="1"/>
          </p:cNvSpPr>
          <p:nvPr>
            <p:ph type="title"/>
          </p:nvPr>
        </p:nvSpPr>
        <p:spPr>
          <a:xfrm>
            <a:off x="838199" y="169682"/>
            <a:ext cx="10515600" cy="1325563"/>
          </a:xfrm>
        </p:spPr>
        <p:txBody>
          <a:bodyPr>
            <a:normAutofit/>
          </a:bodyPr>
          <a:lstStyle/>
          <a:p>
            <a:r>
              <a:rPr lang="en-US" sz="3600" dirty="0"/>
              <a:t>Future Enhancement </a:t>
            </a:r>
          </a:p>
        </p:txBody>
      </p:sp>
      <p:sp>
        <p:nvSpPr>
          <p:cNvPr id="3" name="Content Placeholder 2">
            <a:extLst>
              <a:ext uri="{FF2B5EF4-FFF2-40B4-BE49-F238E27FC236}">
                <a16:creationId xmlns:a16="http://schemas.microsoft.com/office/drawing/2014/main" id="{BF84377A-4757-7182-13DD-378AA699525B}"/>
              </a:ext>
            </a:extLst>
          </p:cNvPr>
          <p:cNvSpPr>
            <a:spLocks noGrp="1"/>
          </p:cNvSpPr>
          <p:nvPr>
            <p:ph idx="1"/>
          </p:nvPr>
        </p:nvSpPr>
        <p:spPr>
          <a:xfrm>
            <a:off x="838199" y="1479745"/>
            <a:ext cx="11151704" cy="4488107"/>
          </a:xfrm>
        </p:spPr>
        <p:txBody>
          <a:bodyPr>
            <a:noAutofit/>
          </a:bodyPr>
          <a:lstStyle/>
          <a:p>
            <a:pPr marL="0" indent="0">
              <a:buNone/>
            </a:pPr>
            <a:r>
              <a:rPr lang="en-US" sz="2000" b="1" dirty="0"/>
              <a:t>Backend Stack</a:t>
            </a:r>
            <a:endParaRPr lang="en-US" sz="2000" dirty="0"/>
          </a:p>
          <a:p>
            <a:r>
              <a:rPr lang="en-US" sz="2000" dirty="0"/>
              <a:t>Node.js + Express </a:t>
            </a:r>
          </a:p>
          <a:p>
            <a:r>
              <a:rPr lang="en-US" sz="2000" dirty="0"/>
              <a:t>MongoDB Database </a:t>
            </a:r>
          </a:p>
          <a:p>
            <a:pPr marL="0" indent="0">
              <a:buNone/>
            </a:pPr>
            <a:r>
              <a:rPr lang="en-US" sz="2000" b="1" dirty="0"/>
              <a:t>Security Improvements</a:t>
            </a:r>
            <a:endParaRPr lang="en-US" sz="2000" dirty="0"/>
          </a:p>
          <a:p>
            <a:r>
              <a:rPr lang="en-US" sz="2000" dirty="0"/>
              <a:t>Password hashing using </a:t>
            </a:r>
            <a:r>
              <a:rPr lang="en-US" sz="2000" b="1" dirty="0" err="1"/>
              <a:t>bcrypt</a:t>
            </a:r>
            <a:r>
              <a:rPr lang="en-US" sz="2000" dirty="0"/>
              <a:t> </a:t>
            </a:r>
          </a:p>
          <a:p>
            <a:r>
              <a:rPr lang="en-US" sz="2000" dirty="0"/>
              <a:t>Token-based authentication (</a:t>
            </a:r>
            <a:r>
              <a:rPr lang="en-US" sz="2000" b="1" dirty="0"/>
              <a:t>JWT</a:t>
            </a:r>
            <a:r>
              <a:rPr lang="en-US" sz="2000" dirty="0"/>
              <a:t>) </a:t>
            </a:r>
          </a:p>
          <a:p>
            <a:r>
              <a:rPr lang="en-US" sz="2000" dirty="0"/>
              <a:t>Secure API validation </a:t>
            </a:r>
          </a:p>
          <a:p>
            <a:pPr marL="0" indent="0">
              <a:buNone/>
            </a:pPr>
            <a:r>
              <a:rPr lang="en-US" sz="2000" b="1" dirty="0"/>
              <a:t>Benefits</a:t>
            </a:r>
            <a:endParaRPr lang="en-US" sz="2000" dirty="0"/>
          </a:p>
          <a:p>
            <a:r>
              <a:rPr lang="en-US" sz="2000" dirty="0"/>
              <a:t>Supports </a:t>
            </a:r>
            <a:r>
              <a:rPr lang="en-US" sz="2000" b="1" dirty="0"/>
              <a:t>multiple users</a:t>
            </a:r>
            <a:r>
              <a:rPr lang="en-US" sz="2000" dirty="0"/>
              <a:t> </a:t>
            </a:r>
          </a:p>
          <a:p>
            <a:r>
              <a:rPr lang="en-US" sz="2000" dirty="0"/>
              <a:t>Ensures </a:t>
            </a:r>
            <a:r>
              <a:rPr lang="en-US" sz="2000" b="1" dirty="0"/>
              <a:t>secure data storage</a:t>
            </a:r>
            <a:r>
              <a:rPr lang="en-US" sz="2000" dirty="0"/>
              <a:t> </a:t>
            </a:r>
          </a:p>
          <a:p>
            <a:r>
              <a:rPr lang="en-US" sz="2000" dirty="0"/>
              <a:t>Provides </a:t>
            </a:r>
            <a:r>
              <a:rPr lang="en-US" sz="2000" b="1" dirty="0"/>
              <a:t>scalable architecture</a:t>
            </a:r>
            <a:r>
              <a:rPr lang="en-US" sz="2000" dirty="0"/>
              <a:t> </a:t>
            </a:r>
          </a:p>
          <a:p>
            <a:pPr marL="0" indent="0">
              <a:buNone/>
            </a:pPr>
            <a:endParaRPr lang="en-US" dirty="0"/>
          </a:p>
        </p:txBody>
      </p:sp>
      <p:sp>
        <p:nvSpPr>
          <p:cNvPr id="4" name="Slide Number Placeholder 3">
            <a:extLst>
              <a:ext uri="{FF2B5EF4-FFF2-40B4-BE49-F238E27FC236}">
                <a16:creationId xmlns:a16="http://schemas.microsoft.com/office/drawing/2014/main" id="{3D36B145-7644-5752-C099-EA9BE5E58E87}"/>
              </a:ext>
            </a:extLst>
          </p:cNvPr>
          <p:cNvSpPr>
            <a:spLocks noGrp="1"/>
          </p:cNvSpPr>
          <p:nvPr>
            <p:ph type="sldNum" sz="quarter" idx="4"/>
          </p:nvPr>
        </p:nvSpPr>
        <p:spPr/>
        <p:txBody>
          <a:bodyPr/>
          <a:lstStyle/>
          <a:p>
            <a:fld id="{94599A10-5031-416A-8935-40C3BCBA0AF7}" type="slidenum">
              <a:rPr lang="en-US" smtClean="0"/>
              <a:pPr/>
              <a:t>10</a:t>
            </a:fld>
            <a:endParaRPr lang="en-US" dirty="0"/>
          </a:p>
        </p:txBody>
      </p:sp>
      <p:cxnSp>
        <p:nvCxnSpPr>
          <p:cNvPr id="11" name="Straight Connector 10">
            <a:extLst>
              <a:ext uri="{FF2B5EF4-FFF2-40B4-BE49-F238E27FC236}">
                <a16:creationId xmlns:a16="http://schemas.microsoft.com/office/drawing/2014/main" id="{4F4947EA-60DC-7644-EC4C-C6461E4CBC0C}"/>
              </a:ext>
            </a:extLst>
          </p:cNvPr>
          <p:cNvCxnSpPr>
            <a:cxnSpLocks/>
          </p:cNvCxnSpPr>
          <p:nvPr/>
        </p:nvCxnSpPr>
        <p:spPr>
          <a:xfrm>
            <a:off x="838200" y="1316343"/>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37A6C14-5FD4-4BED-209E-07EB113FB928}"/>
              </a:ext>
            </a:extLst>
          </p:cNvPr>
          <p:cNvCxnSpPr>
            <a:cxnSpLocks/>
          </p:cNvCxnSpPr>
          <p:nvPr/>
        </p:nvCxnSpPr>
        <p:spPr>
          <a:xfrm>
            <a:off x="4336211" y="1316343"/>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5271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FEFD5-1B1B-AB7C-6F0D-E25CD2D35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8AA64-C051-E3B2-7E94-4E31B1D85B75}"/>
              </a:ext>
            </a:extLst>
          </p:cNvPr>
          <p:cNvSpPr>
            <a:spLocks noGrp="1"/>
          </p:cNvSpPr>
          <p:nvPr>
            <p:ph type="title"/>
          </p:nvPr>
        </p:nvSpPr>
        <p:spPr/>
        <p:txBody>
          <a:bodyPr/>
          <a:lstStyle/>
          <a:p>
            <a:r>
              <a:rPr lang="en-IN" b="1" dirty="0"/>
              <a:t>Authentication Module in Working</a:t>
            </a:r>
            <a:endParaRPr lang="en-IN" dirty="0"/>
          </a:p>
        </p:txBody>
      </p:sp>
      <p:sp>
        <p:nvSpPr>
          <p:cNvPr id="4" name="Slide Number Placeholder 3">
            <a:extLst>
              <a:ext uri="{FF2B5EF4-FFF2-40B4-BE49-F238E27FC236}">
                <a16:creationId xmlns:a16="http://schemas.microsoft.com/office/drawing/2014/main" id="{BEF58C9E-B212-ABDD-040E-3C8A2E81FEF3}"/>
              </a:ext>
            </a:extLst>
          </p:cNvPr>
          <p:cNvSpPr>
            <a:spLocks noGrp="1"/>
          </p:cNvSpPr>
          <p:nvPr>
            <p:ph type="sldNum" sz="quarter" idx="4"/>
          </p:nvPr>
        </p:nvSpPr>
        <p:spPr/>
        <p:txBody>
          <a:bodyPr/>
          <a:lstStyle/>
          <a:p>
            <a:fld id="{94599A10-5031-416A-8935-40C3BCBA0AF7}" type="slidenum">
              <a:rPr lang="en-US" smtClean="0"/>
              <a:pPr/>
              <a:t>11</a:t>
            </a:fld>
            <a:endParaRPr lang="en-US" dirty="0"/>
          </a:p>
        </p:txBody>
      </p:sp>
      <p:pic>
        <p:nvPicPr>
          <p:cNvPr id="8" name="Picture 7">
            <a:extLst>
              <a:ext uri="{FF2B5EF4-FFF2-40B4-BE49-F238E27FC236}">
                <a16:creationId xmlns:a16="http://schemas.microsoft.com/office/drawing/2014/main" id="{3B54D127-65C6-F7D0-93EB-0E6F3CD9A29A}"/>
              </a:ext>
            </a:extLst>
          </p:cNvPr>
          <p:cNvPicPr>
            <a:picLocks noChangeAspect="1"/>
          </p:cNvPicPr>
          <p:nvPr/>
        </p:nvPicPr>
        <p:blipFill>
          <a:blip r:embed="rId2"/>
          <a:srcRect b="6034"/>
          <a:stretch>
            <a:fillRect/>
          </a:stretch>
        </p:blipFill>
        <p:spPr>
          <a:xfrm>
            <a:off x="838201" y="1835458"/>
            <a:ext cx="5213522" cy="4351338"/>
          </a:xfrm>
          <a:prstGeom prst="rect">
            <a:avLst/>
          </a:prstGeom>
        </p:spPr>
      </p:pic>
      <p:pic>
        <p:nvPicPr>
          <p:cNvPr id="9" name="Content Placeholder 8">
            <a:extLst>
              <a:ext uri="{FF2B5EF4-FFF2-40B4-BE49-F238E27FC236}">
                <a16:creationId xmlns:a16="http://schemas.microsoft.com/office/drawing/2014/main" id="{C3968F32-D95A-F847-6512-C24DD56A3DC4}"/>
              </a:ext>
            </a:extLst>
          </p:cNvPr>
          <p:cNvPicPr>
            <a:picLocks noGrp="1" noChangeAspect="1"/>
          </p:cNvPicPr>
          <p:nvPr>
            <p:ph idx="1"/>
          </p:nvPr>
        </p:nvPicPr>
        <p:blipFill>
          <a:blip r:embed="rId3"/>
          <a:stretch>
            <a:fillRect/>
          </a:stretch>
        </p:blipFill>
        <p:spPr>
          <a:xfrm>
            <a:off x="838200" y="1690688"/>
            <a:ext cx="5213522" cy="4351338"/>
          </a:xfrm>
          <a:prstGeom prst="rect">
            <a:avLst/>
          </a:prstGeom>
        </p:spPr>
      </p:pic>
      <p:pic>
        <p:nvPicPr>
          <p:cNvPr id="11" name="Picture 10">
            <a:extLst>
              <a:ext uri="{FF2B5EF4-FFF2-40B4-BE49-F238E27FC236}">
                <a16:creationId xmlns:a16="http://schemas.microsoft.com/office/drawing/2014/main" id="{5AF7F7ED-C0AB-B4CE-A996-972AA62170DC}"/>
              </a:ext>
            </a:extLst>
          </p:cNvPr>
          <p:cNvPicPr>
            <a:picLocks noChangeAspect="1"/>
          </p:cNvPicPr>
          <p:nvPr/>
        </p:nvPicPr>
        <p:blipFill>
          <a:blip r:embed="rId4"/>
          <a:stretch>
            <a:fillRect/>
          </a:stretch>
        </p:blipFill>
        <p:spPr>
          <a:xfrm>
            <a:off x="6240205" y="1835458"/>
            <a:ext cx="4925112" cy="4591691"/>
          </a:xfrm>
          <a:prstGeom prst="rect">
            <a:avLst/>
          </a:prstGeom>
        </p:spPr>
      </p:pic>
    </p:spTree>
    <p:extLst>
      <p:ext uri="{BB962C8B-B14F-4D97-AF65-F5344CB8AC3E}">
        <p14:creationId xmlns:p14="http://schemas.microsoft.com/office/powerpoint/2010/main" val="1206100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8D1B2-F252-0B5D-43E1-5D156A556B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F34C5B-D9CF-890D-0FD4-D228DEFF31A4}"/>
              </a:ext>
            </a:extLst>
          </p:cNvPr>
          <p:cNvSpPr>
            <a:spLocks noGrp="1"/>
          </p:cNvSpPr>
          <p:nvPr>
            <p:ph type="title"/>
          </p:nvPr>
        </p:nvSpPr>
        <p:spPr>
          <a:xfrm>
            <a:off x="838199" y="169682"/>
            <a:ext cx="10515600" cy="1325563"/>
          </a:xfrm>
        </p:spPr>
        <p:txBody>
          <a:bodyPr>
            <a:normAutofit/>
          </a:bodyPr>
          <a:lstStyle/>
          <a:p>
            <a:r>
              <a:rPr lang="en-US" sz="3600" dirty="0"/>
              <a:t>Notification</a:t>
            </a:r>
            <a:r>
              <a:rPr lang="en-US" sz="3600" b="1" dirty="0"/>
              <a:t> </a:t>
            </a:r>
            <a:r>
              <a:rPr lang="en-US" sz="3600" dirty="0"/>
              <a:t>Module</a:t>
            </a:r>
          </a:p>
        </p:txBody>
      </p:sp>
      <p:sp>
        <p:nvSpPr>
          <p:cNvPr id="3" name="Content Placeholder 2">
            <a:extLst>
              <a:ext uri="{FF2B5EF4-FFF2-40B4-BE49-F238E27FC236}">
                <a16:creationId xmlns:a16="http://schemas.microsoft.com/office/drawing/2014/main" id="{3918E816-0B02-CAFE-99D7-A9F544EF36D0}"/>
              </a:ext>
            </a:extLst>
          </p:cNvPr>
          <p:cNvSpPr>
            <a:spLocks noGrp="1"/>
          </p:cNvSpPr>
          <p:nvPr>
            <p:ph idx="1"/>
          </p:nvPr>
        </p:nvSpPr>
        <p:spPr>
          <a:xfrm>
            <a:off x="838199" y="1479745"/>
            <a:ext cx="11151704" cy="4488107"/>
          </a:xfrm>
        </p:spPr>
        <p:txBody>
          <a:bodyPr>
            <a:noAutofit/>
          </a:bodyPr>
          <a:lstStyle/>
          <a:p>
            <a:pPr marL="0" lvl="0" indent="0">
              <a:buClr>
                <a:schemeClr val="dk1"/>
              </a:buClr>
              <a:buSzPts val="1100"/>
              <a:buNone/>
            </a:pPr>
            <a:r>
              <a:rPr lang="en-US" sz="2400" b="1" dirty="0"/>
              <a:t>Overview</a:t>
            </a:r>
          </a:p>
          <a:p>
            <a:pPr marL="0" lvl="0" indent="0">
              <a:buClr>
                <a:schemeClr val="dk1"/>
              </a:buClr>
              <a:buSzPts val="1100"/>
              <a:buNone/>
            </a:pPr>
            <a:r>
              <a:rPr lang="en-US" sz="2400" dirty="0"/>
              <a:t>•  Provides timely alerts for saved learning items</a:t>
            </a:r>
          </a:p>
          <a:p>
            <a:pPr marL="0" lvl="0" indent="0">
              <a:buClr>
                <a:schemeClr val="dk1"/>
              </a:buClr>
              <a:buSzPts val="1100"/>
              <a:buNone/>
            </a:pPr>
            <a:r>
              <a:rPr lang="en-US" sz="2400" dirty="0"/>
              <a:t>•  Notifies users about upcoming and missed deadlines</a:t>
            </a:r>
          </a:p>
          <a:p>
            <a:pPr marL="0" lvl="0" indent="0">
              <a:buClr>
                <a:schemeClr val="dk1"/>
              </a:buClr>
              <a:buSzPts val="1100"/>
              <a:buNone/>
            </a:pPr>
            <a:r>
              <a:rPr lang="en-US" sz="2400" dirty="0"/>
              <a:t>•  Enhances user engagement with the platform</a:t>
            </a:r>
          </a:p>
          <a:p>
            <a:pPr marL="0" lvl="0" indent="0">
              <a:buClr>
                <a:schemeClr val="dk1"/>
              </a:buClr>
              <a:buSzPts val="1100"/>
              <a:buNone/>
            </a:pPr>
            <a:r>
              <a:rPr lang="en-US" sz="2400" dirty="0"/>
              <a:t>•  Ensures users stay consistent with learning tasks</a:t>
            </a:r>
          </a:p>
          <a:p>
            <a:pPr marL="0" lvl="0" indent="0">
              <a:buClr>
                <a:schemeClr val="dk1"/>
              </a:buClr>
              <a:buSzPts val="1100"/>
              <a:buNone/>
            </a:pPr>
            <a:r>
              <a:rPr lang="en-US" sz="2400" b="1" dirty="0"/>
              <a:t>Purpose</a:t>
            </a:r>
          </a:p>
          <a:p>
            <a:pPr marL="0" lvl="0" indent="0">
              <a:buClr>
                <a:schemeClr val="dk1"/>
              </a:buClr>
              <a:buSzPts val="1100"/>
              <a:buNone/>
            </a:pPr>
            <a:r>
              <a:rPr lang="en-US" sz="2400" dirty="0"/>
              <a:t>•  Remind users about pending learning items</a:t>
            </a:r>
          </a:p>
          <a:p>
            <a:pPr marL="0" lvl="0" indent="0">
              <a:buClr>
                <a:schemeClr val="dk1"/>
              </a:buClr>
              <a:buSzPts val="1100"/>
              <a:buNone/>
            </a:pPr>
            <a:r>
              <a:rPr lang="en-US" sz="2400" dirty="0"/>
              <a:t>•  Prevent missing important deadlines</a:t>
            </a:r>
          </a:p>
          <a:p>
            <a:pPr marL="0" lvl="0" indent="0">
              <a:buClr>
                <a:schemeClr val="dk1"/>
              </a:buClr>
              <a:buSzPts val="1100"/>
              <a:buNone/>
            </a:pPr>
            <a:r>
              <a:rPr lang="en-US" sz="2400" dirty="0"/>
              <a:t>•  Improve learning discipline and consistency</a:t>
            </a:r>
          </a:p>
          <a:p>
            <a:pPr marL="0" lvl="0" indent="0">
              <a:buClr>
                <a:schemeClr val="dk1"/>
              </a:buClr>
              <a:buSzPts val="1100"/>
              <a:buNone/>
            </a:pPr>
            <a:r>
              <a:rPr lang="en-US" sz="2400" dirty="0"/>
              <a:t>•  Support effective time management</a:t>
            </a:r>
          </a:p>
          <a:p>
            <a:pPr marL="0" indent="0">
              <a:buNone/>
            </a:pPr>
            <a:endParaRPr lang="en-US" dirty="0"/>
          </a:p>
        </p:txBody>
      </p:sp>
      <p:sp>
        <p:nvSpPr>
          <p:cNvPr id="4" name="Slide Number Placeholder 3">
            <a:extLst>
              <a:ext uri="{FF2B5EF4-FFF2-40B4-BE49-F238E27FC236}">
                <a16:creationId xmlns:a16="http://schemas.microsoft.com/office/drawing/2014/main" id="{E2C60E1C-4533-B8F7-1496-077A4AFF2349}"/>
              </a:ext>
            </a:extLst>
          </p:cNvPr>
          <p:cNvSpPr>
            <a:spLocks noGrp="1"/>
          </p:cNvSpPr>
          <p:nvPr>
            <p:ph type="sldNum" sz="quarter" idx="4"/>
          </p:nvPr>
        </p:nvSpPr>
        <p:spPr/>
        <p:txBody>
          <a:bodyPr/>
          <a:lstStyle/>
          <a:p>
            <a:fld id="{94599A10-5031-416A-8935-40C3BCBA0AF7}" type="slidenum">
              <a:rPr lang="en-US" smtClean="0"/>
              <a:pPr/>
              <a:t>12</a:t>
            </a:fld>
            <a:endParaRPr lang="en-US" dirty="0"/>
          </a:p>
        </p:txBody>
      </p:sp>
      <p:cxnSp>
        <p:nvCxnSpPr>
          <p:cNvPr id="11" name="Straight Connector 10">
            <a:extLst>
              <a:ext uri="{FF2B5EF4-FFF2-40B4-BE49-F238E27FC236}">
                <a16:creationId xmlns:a16="http://schemas.microsoft.com/office/drawing/2014/main" id="{B597C5CC-FEE3-F227-A4BE-C62258D3E7E0}"/>
              </a:ext>
            </a:extLst>
          </p:cNvPr>
          <p:cNvCxnSpPr>
            <a:cxnSpLocks/>
          </p:cNvCxnSpPr>
          <p:nvPr/>
        </p:nvCxnSpPr>
        <p:spPr>
          <a:xfrm>
            <a:off x="838200" y="1316343"/>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280BF12-4803-A99D-20E7-0A5EE0F01446}"/>
              </a:ext>
            </a:extLst>
          </p:cNvPr>
          <p:cNvCxnSpPr>
            <a:cxnSpLocks/>
          </p:cNvCxnSpPr>
          <p:nvPr/>
        </p:nvCxnSpPr>
        <p:spPr>
          <a:xfrm>
            <a:off x="4336211" y="1316343"/>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7510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0BA0D-4F88-DB3D-5F50-1AC51B41E3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0A9318-260C-682F-4EF8-BFD78770944F}"/>
              </a:ext>
            </a:extLst>
          </p:cNvPr>
          <p:cNvSpPr>
            <a:spLocks noGrp="1"/>
          </p:cNvSpPr>
          <p:nvPr>
            <p:ph type="title"/>
          </p:nvPr>
        </p:nvSpPr>
        <p:spPr>
          <a:xfrm>
            <a:off x="838199" y="169682"/>
            <a:ext cx="10515600" cy="1325563"/>
          </a:xfrm>
        </p:spPr>
        <p:txBody>
          <a:bodyPr>
            <a:normAutofit/>
          </a:bodyPr>
          <a:lstStyle/>
          <a:p>
            <a:r>
              <a:rPr lang="en-US" sz="3600" dirty="0"/>
              <a:t>Notification Workflow</a:t>
            </a:r>
          </a:p>
        </p:txBody>
      </p:sp>
      <p:sp>
        <p:nvSpPr>
          <p:cNvPr id="3" name="Content Placeholder 2">
            <a:extLst>
              <a:ext uri="{FF2B5EF4-FFF2-40B4-BE49-F238E27FC236}">
                <a16:creationId xmlns:a16="http://schemas.microsoft.com/office/drawing/2014/main" id="{BC1931B4-E741-97DC-5108-280842491D17}"/>
              </a:ext>
            </a:extLst>
          </p:cNvPr>
          <p:cNvSpPr>
            <a:spLocks noGrp="1"/>
          </p:cNvSpPr>
          <p:nvPr>
            <p:ph idx="1"/>
          </p:nvPr>
        </p:nvSpPr>
        <p:spPr>
          <a:xfrm>
            <a:off x="838199" y="1479745"/>
            <a:ext cx="11151704" cy="4488107"/>
          </a:xfrm>
        </p:spPr>
        <p:txBody>
          <a:bodyPr>
            <a:noAutofit/>
          </a:bodyPr>
          <a:lstStyle/>
          <a:p>
            <a:pPr marL="0" lvl="0" indent="0">
              <a:buClr>
                <a:schemeClr val="dk1"/>
              </a:buClr>
              <a:buSzPts val="358"/>
              <a:buNone/>
            </a:pPr>
            <a:r>
              <a:rPr lang="en-US" sz="1800" b="1" dirty="0"/>
              <a:t>Input Process</a:t>
            </a:r>
          </a:p>
          <a:p>
            <a:pPr marL="0" lvl="0" indent="0">
              <a:buNone/>
            </a:pPr>
            <a:r>
              <a:rPr lang="en-US" sz="1800" dirty="0"/>
              <a:t>•  User adds learning item with deadline</a:t>
            </a:r>
          </a:p>
          <a:p>
            <a:pPr marL="0" lvl="0" indent="0">
              <a:buNone/>
            </a:pPr>
            <a:r>
              <a:rPr lang="en-US" sz="1800" dirty="0"/>
              <a:t>•  System stores item details</a:t>
            </a:r>
          </a:p>
          <a:p>
            <a:pPr marL="0" lvl="0" indent="0">
              <a:buNone/>
            </a:pPr>
            <a:endParaRPr lang="en-US" sz="1800" dirty="0"/>
          </a:p>
          <a:p>
            <a:pPr marL="0" lvl="0" indent="0">
              <a:buNone/>
            </a:pPr>
            <a:r>
              <a:rPr lang="en-US" sz="1800" b="1" dirty="0"/>
              <a:t>Processing</a:t>
            </a:r>
          </a:p>
          <a:p>
            <a:pPr marL="0" lvl="0" indent="0">
              <a:buNone/>
            </a:pPr>
            <a:r>
              <a:rPr lang="en-US" sz="1800" dirty="0"/>
              <a:t>•  System fetches current date</a:t>
            </a:r>
          </a:p>
          <a:p>
            <a:pPr marL="0" lvl="0" indent="0">
              <a:buNone/>
            </a:pPr>
            <a:r>
              <a:rPr lang="en-US" sz="1800" dirty="0"/>
              <a:t>•  Compares current date with stored deadline</a:t>
            </a:r>
          </a:p>
          <a:p>
            <a:pPr marL="0" lvl="0" indent="0">
              <a:buNone/>
            </a:pPr>
            <a:r>
              <a:rPr lang="en-US" sz="1800" dirty="0"/>
              <a:t>•  Identifies due or overdue items</a:t>
            </a:r>
          </a:p>
          <a:p>
            <a:pPr marL="0" lvl="0" indent="0">
              <a:buNone/>
            </a:pPr>
            <a:endParaRPr lang="en-US" sz="1800" dirty="0"/>
          </a:p>
          <a:p>
            <a:pPr marL="0" lvl="0" indent="0">
              <a:buNone/>
            </a:pPr>
            <a:r>
              <a:rPr lang="en-US" sz="1800" b="1" dirty="0"/>
              <a:t> Output Process</a:t>
            </a:r>
          </a:p>
          <a:p>
            <a:pPr marL="0" lvl="0" indent="0">
              <a:buNone/>
            </a:pPr>
            <a:r>
              <a:rPr lang="en-US" sz="1800" dirty="0"/>
              <a:t>•  Generates notification alerts</a:t>
            </a:r>
          </a:p>
          <a:p>
            <a:pPr marL="0" lvl="0" indent="0">
              <a:buNone/>
            </a:pPr>
            <a:r>
              <a:rPr lang="en-US" sz="1800" dirty="0"/>
              <a:t>•  Displays notifications on user interface</a:t>
            </a:r>
          </a:p>
          <a:p>
            <a:pPr marL="0" indent="0">
              <a:buNone/>
            </a:pPr>
            <a:endParaRPr lang="en-US" dirty="0"/>
          </a:p>
        </p:txBody>
      </p:sp>
      <p:sp>
        <p:nvSpPr>
          <p:cNvPr id="4" name="Slide Number Placeholder 3">
            <a:extLst>
              <a:ext uri="{FF2B5EF4-FFF2-40B4-BE49-F238E27FC236}">
                <a16:creationId xmlns:a16="http://schemas.microsoft.com/office/drawing/2014/main" id="{C71D61A3-3D2C-DBA2-DE80-F8033B89907A}"/>
              </a:ext>
            </a:extLst>
          </p:cNvPr>
          <p:cNvSpPr>
            <a:spLocks noGrp="1"/>
          </p:cNvSpPr>
          <p:nvPr>
            <p:ph type="sldNum" sz="quarter" idx="4"/>
          </p:nvPr>
        </p:nvSpPr>
        <p:spPr/>
        <p:txBody>
          <a:bodyPr/>
          <a:lstStyle/>
          <a:p>
            <a:fld id="{94599A10-5031-416A-8935-40C3BCBA0AF7}" type="slidenum">
              <a:rPr lang="en-US" smtClean="0"/>
              <a:pPr/>
              <a:t>13</a:t>
            </a:fld>
            <a:endParaRPr lang="en-US" dirty="0"/>
          </a:p>
        </p:txBody>
      </p:sp>
      <p:cxnSp>
        <p:nvCxnSpPr>
          <p:cNvPr id="11" name="Straight Connector 10">
            <a:extLst>
              <a:ext uri="{FF2B5EF4-FFF2-40B4-BE49-F238E27FC236}">
                <a16:creationId xmlns:a16="http://schemas.microsoft.com/office/drawing/2014/main" id="{CF123C60-1872-5011-D337-E8D5A9ED1CE2}"/>
              </a:ext>
            </a:extLst>
          </p:cNvPr>
          <p:cNvCxnSpPr>
            <a:cxnSpLocks/>
          </p:cNvCxnSpPr>
          <p:nvPr/>
        </p:nvCxnSpPr>
        <p:spPr>
          <a:xfrm>
            <a:off x="838200" y="1316343"/>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AAC1F29-1B86-8B4D-3733-687A3A959498}"/>
              </a:ext>
            </a:extLst>
          </p:cNvPr>
          <p:cNvCxnSpPr>
            <a:cxnSpLocks/>
          </p:cNvCxnSpPr>
          <p:nvPr/>
        </p:nvCxnSpPr>
        <p:spPr>
          <a:xfrm>
            <a:off x="4336211" y="1316343"/>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8885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4EBED-A7D5-8C57-C561-068E75E5FF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BB3313-D0C0-BF95-5D11-2A89BE1DA9F9}"/>
              </a:ext>
            </a:extLst>
          </p:cNvPr>
          <p:cNvSpPr>
            <a:spLocks noGrp="1"/>
          </p:cNvSpPr>
          <p:nvPr>
            <p:ph type="title"/>
          </p:nvPr>
        </p:nvSpPr>
        <p:spPr>
          <a:xfrm>
            <a:off x="838199" y="169682"/>
            <a:ext cx="10515600" cy="1325563"/>
          </a:xfrm>
        </p:spPr>
        <p:txBody>
          <a:bodyPr>
            <a:normAutofit/>
          </a:bodyPr>
          <a:lstStyle/>
          <a:p>
            <a:r>
              <a:rPr lang="en-US" sz="3600" dirty="0"/>
              <a:t>Current Implementation</a:t>
            </a:r>
          </a:p>
        </p:txBody>
      </p:sp>
      <p:sp>
        <p:nvSpPr>
          <p:cNvPr id="3" name="Content Placeholder 2">
            <a:extLst>
              <a:ext uri="{FF2B5EF4-FFF2-40B4-BE49-F238E27FC236}">
                <a16:creationId xmlns:a16="http://schemas.microsoft.com/office/drawing/2014/main" id="{EBCBCF1D-1C84-FF2F-7983-453303E6E47A}"/>
              </a:ext>
            </a:extLst>
          </p:cNvPr>
          <p:cNvSpPr>
            <a:spLocks noGrp="1"/>
          </p:cNvSpPr>
          <p:nvPr>
            <p:ph idx="1"/>
          </p:nvPr>
        </p:nvSpPr>
        <p:spPr>
          <a:xfrm>
            <a:off x="838199" y="1479745"/>
            <a:ext cx="11151704" cy="4488107"/>
          </a:xfrm>
        </p:spPr>
        <p:txBody>
          <a:bodyPr>
            <a:noAutofit/>
          </a:bodyPr>
          <a:lstStyle/>
          <a:p>
            <a:pPr marL="0" lvl="0" indent="0">
              <a:buClr>
                <a:schemeClr val="dk1"/>
              </a:buClr>
              <a:buSzPct val="39285"/>
              <a:buNone/>
            </a:pPr>
            <a:r>
              <a:rPr lang="en-US" sz="2400" b="1" dirty="0"/>
              <a:t>Architecture</a:t>
            </a:r>
          </a:p>
          <a:p>
            <a:pPr marL="0" lvl="0" indent="0">
              <a:buNone/>
            </a:pPr>
            <a:r>
              <a:rPr lang="en-US" sz="2400" dirty="0"/>
              <a:t>•  Client-side notification system</a:t>
            </a:r>
          </a:p>
          <a:p>
            <a:pPr marL="0" lvl="0" indent="0">
              <a:buClr>
                <a:schemeClr val="dk1"/>
              </a:buClr>
              <a:buSzPct val="39285"/>
              <a:buNone/>
            </a:pPr>
            <a:r>
              <a:rPr lang="en-US" sz="2400" dirty="0"/>
              <a:t>•  Uses JavaScript for logic execution</a:t>
            </a:r>
          </a:p>
          <a:p>
            <a:pPr marL="0" lvl="0" indent="0">
              <a:buClr>
                <a:schemeClr val="dk1"/>
              </a:buClr>
              <a:buSzPct val="39285"/>
              <a:buNone/>
            </a:pPr>
            <a:r>
              <a:rPr lang="en-US" sz="2400" dirty="0"/>
              <a:t>•  Dynamic rendering of notifications</a:t>
            </a:r>
          </a:p>
          <a:p>
            <a:pPr marL="0" lvl="0" indent="0">
              <a:buClr>
                <a:schemeClr val="dk1"/>
              </a:buClr>
              <a:buSzPct val="39285"/>
              <a:buNone/>
            </a:pPr>
            <a:endParaRPr lang="en-US" sz="2400" dirty="0"/>
          </a:p>
          <a:p>
            <a:pPr marL="0" lvl="0" indent="0">
              <a:buClr>
                <a:schemeClr val="dk1"/>
              </a:buClr>
              <a:buSzPct val="39285"/>
              <a:buNone/>
            </a:pPr>
            <a:r>
              <a:rPr lang="en-US" sz="2400" dirty="0"/>
              <a:t> </a:t>
            </a:r>
            <a:r>
              <a:rPr lang="en-US" sz="2400" b="1" dirty="0"/>
              <a:t>Core Components</a:t>
            </a:r>
          </a:p>
          <a:p>
            <a:pPr marL="0" lvl="0" indent="0">
              <a:buNone/>
            </a:pPr>
            <a:r>
              <a:rPr lang="en-US" sz="2400" dirty="0"/>
              <a:t>•  Reminder Storage – stores learning items</a:t>
            </a:r>
          </a:p>
          <a:p>
            <a:pPr marL="0" lvl="0" indent="0">
              <a:buClr>
                <a:schemeClr val="dk1"/>
              </a:buClr>
              <a:buSzPct val="39285"/>
              <a:buNone/>
            </a:pPr>
            <a:r>
              <a:rPr lang="en-US" sz="2400" dirty="0"/>
              <a:t>•  Date Comparison Logic – checks deadlines</a:t>
            </a:r>
          </a:p>
          <a:p>
            <a:pPr marL="0" lvl="0" indent="0">
              <a:buClr>
                <a:schemeClr val="dk1"/>
              </a:buClr>
              <a:buSzPct val="39285"/>
              <a:buNone/>
            </a:pPr>
            <a:r>
              <a:rPr lang="en-US" sz="2400" dirty="0"/>
              <a:t>•  UI Rendering – displays notifications</a:t>
            </a:r>
          </a:p>
          <a:p>
            <a:pPr marL="0" lvl="0" indent="0">
              <a:buClr>
                <a:schemeClr val="dk1"/>
              </a:buClr>
              <a:buSzPct val="39285"/>
              <a:buNone/>
            </a:pPr>
            <a:r>
              <a:rPr lang="en-US" sz="2400" dirty="0"/>
              <a:t>•  Event Handling – triggers on page load</a:t>
            </a:r>
          </a:p>
          <a:p>
            <a:pPr marL="0" indent="0">
              <a:buNone/>
            </a:pPr>
            <a:endParaRPr lang="en-US" dirty="0"/>
          </a:p>
        </p:txBody>
      </p:sp>
      <p:sp>
        <p:nvSpPr>
          <p:cNvPr id="4" name="Slide Number Placeholder 3">
            <a:extLst>
              <a:ext uri="{FF2B5EF4-FFF2-40B4-BE49-F238E27FC236}">
                <a16:creationId xmlns:a16="http://schemas.microsoft.com/office/drawing/2014/main" id="{28E39226-A7A2-3EBC-274E-96B2627F2B42}"/>
              </a:ext>
            </a:extLst>
          </p:cNvPr>
          <p:cNvSpPr>
            <a:spLocks noGrp="1"/>
          </p:cNvSpPr>
          <p:nvPr>
            <p:ph type="sldNum" sz="quarter" idx="4"/>
          </p:nvPr>
        </p:nvSpPr>
        <p:spPr/>
        <p:txBody>
          <a:bodyPr/>
          <a:lstStyle/>
          <a:p>
            <a:fld id="{94599A10-5031-416A-8935-40C3BCBA0AF7}" type="slidenum">
              <a:rPr lang="en-US" smtClean="0"/>
              <a:pPr/>
              <a:t>14</a:t>
            </a:fld>
            <a:endParaRPr lang="en-US" dirty="0"/>
          </a:p>
        </p:txBody>
      </p:sp>
      <p:cxnSp>
        <p:nvCxnSpPr>
          <p:cNvPr id="11" name="Straight Connector 10">
            <a:extLst>
              <a:ext uri="{FF2B5EF4-FFF2-40B4-BE49-F238E27FC236}">
                <a16:creationId xmlns:a16="http://schemas.microsoft.com/office/drawing/2014/main" id="{086FDDE6-6ED4-5DA8-BB27-9733C6FD46E3}"/>
              </a:ext>
            </a:extLst>
          </p:cNvPr>
          <p:cNvCxnSpPr>
            <a:cxnSpLocks/>
          </p:cNvCxnSpPr>
          <p:nvPr/>
        </p:nvCxnSpPr>
        <p:spPr>
          <a:xfrm>
            <a:off x="838200" y="1316343"/>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96DD4B3-8BD5-8959-983D-13E4F8A86EB0}"/>
              </a:ext>
            </a:extLst>
          </p:cNvPr>
          <p:cNvCxnSpPr>
            <a:cxnSpLocks/>
          </p:cNvCxnSpPr>
          <p:nvPr/>
        </p:nvCxnSpPr>
        <p:spPr>
          <a:xfrm>
            <a:off x="4336211" y="1316343"/>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07020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47003-5BFE-1AD7-A86E-8DBA5551F5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842CB9-7D8E-C531-8CB9-94833204E9DE}"/>
              </a:ext>
            </a:extLst>
          </p:cNvPr>
          <p:cNvSpPr>
            <a:spLocks noGrp="1"/>
          </p:cNvSpPr>
          <p:nvPr>
            <p:ph type="title"/>
          </p:nvPr>
        </p:nvSpPr>
        <p:spPr>
          <a:xfrm>
            <a:off x="838199" y="169682"/>
            <a:ext cx="10515600" cy="1325563"/>
          </a:xfrm>
        </p:spPr>
        <p:txBody>
          <a:bodyPr>
            <a:normAutofit/>
          </a:bodyPr>
          <a:lstStyle/>
          <a:p>
            <a:r>
              <a:rPr lang="en-US" sz="3600" dirty="0"/>
              <a:t>Future Enhancements</a:t>
            </a:r>
          </a:p>
        </p:txBody>
      </p:sp>
      <p:sp>
        <p:nvSpPr>
          <p:cNvPr id="3" name="Content Placeholder 2">
            <a:extLst>
              <a:ext uri="{FF2B5EF4-FFF2-40B4-BE49-F238E27FC236}">
                <a16:creationId xmlns:a16="http://schemas.microsoft.com/office/drawing/2014/main" id="{0E9FBF8B-CB49-3CB9-3E84-FC89FFFAA595}"/>
              </a:ext>
            </a:extLst>
          </p:cNvPr>
          <p:cNvSpPr>
            <a:spLocks noGrp="1"/>
          </p:cNvSpPr>
          <p:nvPr>
            <p:ph idx="1"/>
          </p:nvPr>
        </p:nvSpPr>
        <p:spPr>
          <a:xfrm>
            <a:off x="838199" y="1479745"/>
            <a:ext cx="11151704" cy="4488107"/>
          </a:xfrm>
        </p:spPr>
        <p:txBody>
          <a:bodyPr>
            <a:noAutofit/>
          </a:bodyPr>
          <a:lstStyle/>
          <a:p>
            <a:pPr marL="0" lvl="0" indent="0">
              <a:buClr>
                <a:schemeClr val="dk1"/>
              </a:buClr>
              <a:buSzPts val="1100"/>
              <a:buNone/>
            </a:pPr>
            <a:r>
              <a:rPr lang="en-US" sz="2400" b="1" dirty="0"/>
              <a:t>Backend Integration</a:t>
            </a:r>
          </a:p>
          <a:p>
            <a:pPr marL="0" lvl="0" indent="0">
              <a:buClr>
                <a:schemeClr val="dk1"/>
              </a:buClr>
              <a:buSzPts val="1100"/>
              <a:buNone/>
            </a:pPr>
            <a:r>
              <a:rPr lang="en-US" sz="2400" dirty="0"/>
              <a:t>•  Use Node.js + Express.js</a:t>
            </a:r>
          </a:p>
          <a:p>
            <a:pPr marL="0" lvl="0" indent="0">
              <a:buClr>
                <a:schemeClr val="dk1"/>
              </a:buClr>
              <a:buSzPts val="1100"/>
              <a:buNone/>
            </a:pPr>
            <a:r>
              <a:rPr lang="en-US" sz="2400" dirty="0"/>
              <a:t>•  Store data in MongoDB</a:t>
            </a:r>
          </a:p>
          <a:p>
            <a:pPr marL="0" lvl="0" indent="0">
              <a:buClr>
                <a:schemeClr val="dk1"/>
              </a:buClr>
              <a:buSzPts val="1100"/>
              <a:buNone/>
            </a:pPr>
            <a:endParaRPr lang="en-US" sz="2400" dirty="0"/>
          </a:p>
          <a:p>
            <a:pPr marL="0" lvl="0" indent="0">
              <a:buClr>
                <a:schemeClr val="dk1"/>
              </a:buClr>
              <a:buSzPts val="1100"/>
              <a:buNone/>
            </a:pPr>
            <a:r>
              <a:rPr lang="en-US" sz="2400" b="1" dirty="0"/>
              <a:t>Advanced Features</a:t>
            </a:r>
          </a:p>
          <a:p>
            <a:pPr marL="0" lvl="0" indent="0">
              <a:buClr>
                <a:schemeClr val="dk1"/>
              </a:buClr>
              <a:buSzPts val="1100"/>
              <a:buNone/>
            </a:pPr>
            <a:r>
              <a:rPr lang="en-US" sz="2400" dirty="0"/>
              <a:t>•  Real-time notifications</a:t>
            </a:r>
          </a:p>
          <a:p>
            <a:pPr marL="0" lvl="0" indent="0">
              <a:buClr>
                <a:schemeClr val="dk1"/>
              </a:buClr>
              <a:buSzPts val="1100"/>
              <a:buNone/>
            </a:pPr>
            <a:r>
              <a:rPr lang="en-US" sz="2400" dirty="0"/>
              <a:t>•  Email/SMS alerts</a:t>
            </a:r>
          </a:p>
          <a:p>
            <a:pPr marL="0" lvl="0" indent="0">
              <a:buClr>
                <a:schemeClr val="dk1"/>
              </a:buClr>
              <a:buSzPts val="1100"/>
              <a:buNone/>
            </a:pPr>
            <a:r>
              <a:rPr lang="en-US" sz="2400" dirty="0"/>
              <a:t>•  Push notifications</a:t>
            </a:r>
          </a:p>
          <a:p>
            <a:pPr marL="0" lvl="0" indent="0">
              <a:buClr>
                <a:schemeClr val="dk1"/>
              </a:buClr>
              <a:buSzPts val="1100"/>
              <a:buNone/>
            </a:pPr>
            <a:r>
              <a:rPr lang="en-US" sz="2400" dirty="0"/>
              <a:t>•  AI-based reminder suggestions</a:t>
            </a:r>
          </a:p>
          <a:p>
            <a:pPr marL="0" lv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26F106D8-AEB0-B514-4D65-B0B8767FD1FA}"/>
              </a:ext>
            </a:extLst>
          </p:cNvPr>
          <p:cNvSpPr>
            <a:spLocks noGrp="1"/>
          </p:cNvSpPr>
          <p:nvPr>
            <p:ph type="sldNum" sz="quarter" idx="4"/>
          </p:nvPr>
        </p:nvSpPr>
        <p:spPr/>
        <p:txBody>
          <a:bodyPr/>
          <a:lstStyle/>
          <a:p>
            <a:fld id="{94599A10-5031-416A-8935-40C3BCBA0AF7}" type="slidenum">
              <a:rPr lang="en-US" smtClean="0"/>
              <a:pPr/>
              <a:t>15</a:t>
            </a:fld>
            <a:endParaRPr lang="en-US" dirty="0"/>
          </a:p>
        </p:txBody>
      </p:sp>
      <p:cxnSp>
        <p:nvCxnSpPr>
          <p:cNvPr id="11" name="Straight Connector 10">
            <a:extLst>
              <a:ext uri="{FF2B5EF4-FFF2-40B4-BE49-F238E27FC236}">
                <a16:creationId xmlns:a16="http://schemas.microsoft.com/office/drawing/2014/main" id="{1E0B2178-3675-8A5A-2D75-59A347AA365B}"/>
              </a:ext>
            </a:extLst>
          </p:cNvPr>
          <p:cNvCxnSpPr>
            <a:cxnSpLocks/>
          </p:cNvCxnSpPr>
          <p:nvPr/>
        </p:nvCxnSpPr>
        <p:spPr>
          <a:xfrm>
            <a:off x="838200" y="1316343"/>
            <a:ext cx="3498011"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C2F8953-198D-0129-0A5E-6E9C6AAE6B19}"/>
              </a:ext>
            </a:extLst>
          </p:cNvPr>
          <p:cNvCxnSpPr>
            <a:cxnSpLocks/>
          </p:cNvCxnSpPr>
          <p:nvPr/>
        </p:nvCxnSpPr>
        <p:spPr>
          <a:xfrm>
            <a:off x="4336211" y="1316343"/>
            <a:ext cx="2760262"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4386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0B65C-A24B-A30A-C3B1-28A3B8F3C39E}"/>
              </a:ext>
            </a:extLst>
          </p:cNvPr>
          <p:cNvSpPr>
            <a:spLocks noGrp="1"/>
          </p:cNvSpPr>
          <p:nvPr>
            <p:ph type="title"/>
          </p:nvPr>
        </p:nvSpPr>
        <p:spPr/>
        <p:txBody>
          <a:bodyPr/>
          <a:lstStyle/>
          <a:p>
            <a:r>
              <a:rPr lang="en-US" dirty="0"/>
              <a:t>Notification Button</a:t>
            </a:r>
          </a:p>
        </p:txBody>
      </p:sp>
      <p:sp>
        <p:nvSpPr>
          <p:cNvPr id="4" name="Slide Number Placeholder 3">
            <a:extLst>
              <a:ext uri="{FF2B5EF4-FFF2-40B4-BE49-F238E27FC236}">
                <a16:creationId xmlns:a16="http://schemas.microsoft.com/office/drawing/2014/main" id="{0758D3B3-B7CF-E01C-8B49-68864B2A1A6E}"/>
              </a:ext>
            </a:extLst>
          </p:cNvPr>
          <p:cNvSpPr>
            <a:spLocks noGrp="1"/>
          </p:cNvSpPr>
          <p:nvPr>
            <p:ph type="sldNum" sz="quarter" idx="4"/>
          </p:nvPr>
        </p:nvSpPr>
        <p:spPr/>
        <p:txBody>
          <a:bodyPr/>
          <a:lstStyle/>
          <a:p>
            <a:fld id="{94599A10-5031-416A-8935-40C3BCBA0AF7}" type="slidenum">
              <a:rPr lang="en-US" smtClean="0"/>
              <a:pPr/>
              <a:t>16</a:t>
            </a:fld>
            <a:endParaRPr lang="en-US" dirty="0"/>
          </a:p>
        </p:txBody>
      </p:sp>
      <p:pic>
        <p:nvPicPr>
          <p:cNvPr id="9" name="Content Placeholder 8">
            <a:extLst>
              <a:ext uri="{FF2B5EF4-FFF2-40B4-BE49-F238E27FC236}">
                <a16:creationId xmlns:a16="http://schemas.microsoft.com/office/drawing/2014/main" id="{7BFFA432-6DAB-3F4C-4355-F4C12A517820}"/>
              </a:ext>
            </a:extLst>
          </p:cNvPr>
          <p:cNvPicPr>
            <a:picLocks noGrp="1" noChangeAspect="1"/>
          </p:cNvPicPr>
          <p:nvPr>
            <p:ph idx="1"/>
          </p:nvPr>
        </p:nvPicPr>
        <p:blipFill rotWithShape="1">
          <a:blip r:embed="rId2"/>
          <a:srcRect l="731" r="1598"/>
          <a:stretch>
            <a:fillRect/>
          </a:stretch>
        </p:blipFill>
        <p:spPr bwMode="auto">
          <a:xfrm>
            <a:off x="914400" y="1330947"/>
            <a:ext cx="10194127" cy="530085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 name="AutoShape 6">
            <a:extLst>
              <a:ext uri="{FF2B5EF4-FFF2-40B4-BE49-F238E27FC236}">
                <a16:creationId xmlns:a16="http://schemas.microsoft.com/office/drawing/2014/main" id="{CFD46707-D462-D9ED-67C7-0BE75DE88D5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5488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CEF64-01FB-A7B3-045B-F3675485FF9E}"/>
              </a:ext>
            </a:extLst>
          </p:cNvPr>
          <p:cNvSpPr>
            <a:spLocks noGrp="1"/>
          </p:cNvSpPr>
          <p:nvPr>
            <p:ph type="title"/>
          </p:nvPr>
        </p:nvSpPr>
        <p:spPr/>
        <p:txBody>
          <a:bodyPr/>
          <a:lstStyle/>
          <a:p>
            <a:r>
              <a:rPr lang="en-US" dirty="0"/>
              <a:t>Notification screen</a:t>
            </a:r>
          </a:p>
        </p:txBody>
      </p:sp>
      <p:pic>
        <p:nvPicPr>
          <p:cNvPr id="6" name="Content Placeholder 5">
            <a:extLst>
              <a:ext uri="{FF2B5EF4-FFF2-40B4-BE49-F238E27FC236}">
                <a16:creationId xmlns:a16="http://schemas.microsoft.com/office/drawing/2014/main" id="{C8C097BB-B225-0D5A-166A-A2A7E1BEEB21}"/>
              </a:ext>
            </a:extLst>
          </p:cNvPr>
          <p:cNvPicPr>
            <a:picLocks noGrp="1" noChangeAspect="1"/>
          </p:cNvPicPr>
          <p:nvPr>
            <p:ph idx="1"/>
          </p:nvPr>
        </p:nvPicPr>
        <p:blipFill>
          <a:blip r:embed="rId2"/>
          <a:stretch>
            <a:fillRect/>
          </a:stretch>
        </p:blipFill>
        <p:spPr>
          <a:xfrm>
            <a:off x="838199" y="1250635"/>
            <a:ext cx="9728381" cy="5410047"/>
          </a:xfrm>
          <a:prstGeom prst="rect">
            <a:avLst/>
          </a:prstGeom>
          <a:ln>
            <a:solidFill>
              <a:schemeClr val="tx1"/>
            </a:solidFill>
          </a:ln>
        </p:spPr>
      </p:pic>
      <p:sp>
        <p:nvSpPr>
          <p:cNvPr id="4" name="Slide Number Placeholder 3">
            <a:extLst>
              <a:ext uri="{FF2B5EF4-FFF2-40B4-BE49-F238E27FC236}">
                <a16:creationId xmlns:a16="http://schemas.microsoft.com/office/drawing/2014/main" id="{4AE29F23-73EB-5E39-2ACF-8DFDD2CBB689}"/>
              </a:ext>
            </a:extLst>
          </p:cNvPr>
          <p:cNvSpPr>
            <a:spLocks noGrp="1"/>
          </p:cNvSpPr>
          <p:nvPr>
            <p:ph type="sldNum" sz="quarter" idx="4"/>
          </p:nvPr>
        </p:nvSpPr>
        <p:spPr/>
        <p:txBody>
          <a:bodyPr/>
          <a:lstStyle/>
          <a:p>
            <a:fld id="{94599A10-5031-416A-8935-40C3BCBA0AF7}" type="slidenum">
              <a:rPr lang="en-US" smtClean="0"/>
              <a:pPr/>
              <a:t>17</a:t>
            </a:fld>
            <a:endParaRPr lang="en-US" dirty="0"/>
          </a:p>
        </p:txBody>
      </p:sp>
    </p:spTree>
    <p:extLst>
      <p:ext uri="{BB962C8B-B14F-4D97-AF65-F5344CB8AC3E}">
        <p14:creationId xmlns:p14="http://schemas.microsoft.com/office/powerpoint/2010/main" val="799473793"/>
      </p:ext>
    </p:extLst>
  </p:cSld>
  <p:clrMapOvr>
    <a:masterClrMapping/>
  </p:clrMapOvr>
</p:sld>
</file>

<file path=ppt/theme/theme1.xml><?xml version="1.0" encoding="utf-8"?>
<a:theme xmlns:a="http://schemas.openxmlformats.org/drawingml/2006/main" name="Office Theme">
  <a:themeElements>
    <a:clrScheme name="Custom 5">
      <a:dk1>
        <a:srgbClr val="000000"/>
      </a:dk1>
      <a:lt1>
        <a:sysClr val="window" lastClr="FFFFFF"/>
      </a:lt1>
      <a:dk2>
        <a:srgbClr val="293786"/>
      </a:dk2>
      <a:lt2>
        <a:srgbClr val="A21D2E"/>
      </a:lt2>
      <a:accent1>
        <a:srgbClr val="A6AFE4"/>
      </a:accent1>
      <a:accent2>
        <a:srgbClr val="F4BEC4"/>
      </a:accent2>
      <a:accent3>
        <a:srgbClr val="A5A5A5"/>
      </a:accent3>
      <a:accent4>
        <a:srgbClr val="FFC000"/>
      </a:accent4>
      <a:accent5>
        <a:srgbClr val="5B9BD5"/>
      </a:accent5>
      <a:accent6>
        <a:srgbClr val="70AD47"/>
      </a:accent6>
      <a:hlink>
        <a:srgbClr val="0563C1"/>
      </a:hlink>
      <a:folHlink>
        <a:srgbClr val="954F72"/>
      </a:folHlink>
    </a:clrScheme>
    <a:fontScheme name="Medicaps">
      <a:majorFont>
        <a:latin typeface="Metropolis Semi Bold"/>
        <a:ea typeface=""/>
        <a:cs typeface=""/>
      </a:majorFont>
      <a:minorFont>
        <a:latin typeface="Metropoli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 id="{617A8B78-F622-4C57-A45F-FE0E80141807}" vid="{1E4079A0-7BD4-493D-B6C3-8779881B8C2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template</Template>
  <TotalTime>1222</TotalTime>
  <Words>927</Words>
  <Application>Microsoft Office PowerPoint</Application>
  <PresentationFormat>Widescreen</PresentationFormat>
  <Paragraphs>125</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Metropolis</vt:lpstr>
      <vt:lpstr>Metropolis Semi Bold</vt:lpstr>
      <vt:lpstr>Zilla Slab</vt:lpstr>
      <vt:lpstr>Office Theme</vt:lpstr>
      <vt:lpstr>Learning Reflection Platform</vt:lpstr>
      <vt:lpstr>Working of Metadata Extraction Module</vt:lpstr>
      <vt:lpstr>Handling Missing or Unavailable Metadata</vt:lpstr>
      <vt:lpstr>Handling Missing or Unavailable Metadata</vt:lpstr>
      <vt:lpstr>Workflow of Metadata Extraction Module </vt:lpstr>
      <vt:lpstr>Metadata Extractor in Working</vt:lpstr>
      <vt:lpstr>User Authentication System</vt:lpstr>
      <vt:lpstr>Authentication Workflow</vt:lpstr>
      <vt:lpstr>Current Implementation</vt:lpstr>
      <vt:lpstr>Future Enhancement </vt:lpstr>
      <vt:lpstr>Authentication Module in Working</vt:lpstr>
      <vt:lpstr>Notification Module</vt:lpstr>
      <vt:lpstr>Notification Workflow</vt:lpstr>
      <vt:lpstr>Current Implementation</vt:lpstr>
      <vt:lpstr>Future Enhancements</vt:lpstr>
      <vt:lpstr>Notification Button</vt:lpstr>
      <vt:lpstr>Notification screen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Text Here</dc:title>
  <dc:creator>Shantilal Bhayal</dc:creator>
  <cp:lastModifiedBy>Amita Kumari</cp:lastModifiedBy>
  <cp:revision>32</cp:revision>
  <dcterms:created xsi:type="dcterms:W3CDTF">2025-10-08T00:30:40Z</dcterms:created>
  <dcterms:modified xsi:type="dcterms:W3CDTF">2026-03-27T05:45:30Z</dcterms:modified>
</cp:coreProperties>
</file>