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330" r:id="rId4"/>
    <p:sldId id="333" r:id="rId5"/>
    <p:sldId id="334" r:id="rId6"/>
    <p:sldId id="331" r:id="rId7"/>
    <p:sldId id="335" r:id="rId8"/>
    <p:sldId id="336" r:id="rId9"/>
    <p:sldId id="337" r:id="rId10"/>
    <p:sldId id="338" r:id="rId11"/>
    <p:sldId id="339" r:id="rId12"/>
    <p:sldId id="3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2" autoAdjust="0"/>
    <p:restoredTop sz="94559" autoAdjust="0"/>
  </p:normalViewPr>
  <p:slideViewPr>
    <p:cSldViewPr snapToGrid="0" showGuides="1">
      <p:cViewPr varScale="1">
        <p:scale>
          <a:sx n="65" d="100"/>
          <a:sy n="65" d="100"/>
        </p:scale>
        <p:origin x="7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356" y="2554358"/>
            <a:ext cx="10436087" cy="1043116"/>
          </a:xfrm>
        </p:spPr>
        <p:txBody>
          <a:bodyPr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>
                <a:latin typeface="+mn-lt"/>
                <a:ea typeface="Calibri" panose="020F0502020204030204" pitchFamily="34" charset="0"/>
                <a:cs typeface="Mangal" panose="02040503050203030202" pitchFamily="18" charset="0"/>
              </a:rPr>
              <a:t>Learning Reflection Platform</a:t>
            </a:r>
            <a:endParaRPr lang="en-IN" sz="4400" dirty="0">
              <a:effectLst/>
              <a:latin typeface="+mn-lt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3521" y="4840345"/>
            <a:ext cx="3611218" cy="1371609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+mn-lt"/>
              </a:rPr>
              <a:t>Guided By </a:t>
            </a:r>
          </a:p>
          <a:p>
            <a:r>
              <a:rPr lang="en-US" sz="2000" b="1" dirty="0">
                <a:latin typeface="+mn-lt"/>
              </a:rPr>
              <a:t>Prof. Deepika Saraswat</a:t>
            </a:r>
          </a:p>
          <a:p>
            <a:r>
              <a:rPr lang="en-US" sz="2000" b="1" dirty="0">
                <a:latin typeface="+mn-lt"/>
              </a:rPr>
              <a:t>Prof. Jyotsana Goyal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89F9868-DF8E-435D-A50C-F9F061DAF157}"/>
              </a:ext>
            </a:extLst>
          </p:cNvPr>
          <p:cNvSpPr txBox="1">
            <a:spLocks/>
          </p:cNvSpPr>
          <p:nvPr/>
        </p:nvSpPr>
        <p:spPr>
          <a:xfrm>
            <a:off x="1030355" y="4640826"/>
            <a:ext cx="5449103" cy="17036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n-lt"/>
              </a:rPr>
              <a:t>Presented By</a:t>
            </a:r>
          </a:p>
          <a:p>
            <a:r>
              <a:rPr lang="en-US" sz="2000" dirty="0"/>
              <a:t>Amita Kumari 		EN23CS301121</a:t>
            </a:r>
          </a:p>
          <a:p>
            <a:r>
              <a:rPr lang="en-US" sz="2000" dirty="0"/>
              <a:t>Anaaya Bhattacharya 	EN23CS301123</a:t>
            </a:r>
          </a:p>
          <a:p>
            <a:r>
              <a:rPr lang="en-US" sz="2000" dirty="0"/>
              <a:t>Anjali Gour		EN23CS301136</a:t>
            </a:r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9BED-9991-4511-8E56-B840D096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968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0D38-FA68-09E4-0AA7-0D1685591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9745"/>
            <a:ext cx="11151704" cy="448810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Introduction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Literature </a:t>
            </a:r>
            <a:r>
              <a:rPr lang="en-US" sz="2400" dirty="0">
                <a:ea typeface="Times New Roman" panose="02020603050405020304" pitchFamily="18" charset="0"/>
              </a:rPr>
              <a:t>Review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Problem </a:t>
            </a:r>
            <a:r>
              <a:rPr lang="en-US" sz="2400" dirty="0">
                <a:ea typeface="Times New Roman" panose="02020603050405020304" pitchFamily="18" charset="0"/>
              </a:rPr>
              <a:t>Definition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Objectives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Methodology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Societal impact or benefits to society.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Conclusion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References</a:t>
            </a: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9E90-393B-0DDA-3FCB-DE78D4A6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59084E-2A94-93E2-EDDE-32EACBF01643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745F0-24AC-C1FC-FD2F-9E8515345474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98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924101D-BFC7-8B14-6780-BFFE1146A8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3" r="17243"/>
          <a:stretch>
            <a:fillRect/>
          </a:stretch>
        </p:blipFill>
        <p:spPr bwMode="auto">
          <a:xfrm>
            <a:off x="7393599" y="450457"/>
            <a:ext cx="4798401" cy="377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589BED-9991-4511-8E56-B840D096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968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Introduction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9E90-393B-0DDA-3FCB-DE78D4A6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59084E-2A94-93E2-EDDE-32EACBF01643}"/>
              </a:ext>
            </a:extLst>
          </p:cNvPr>
          <p:cNvCxnSpPr>
            <a:cxnSpLocks/>
          </p:cNvCxnSpPr>
          <p:nvPr/>
        </p:nvCxnSpPr>
        <p:spPr>
          <a:xfrm>
            <a:off x="838200" y="1316343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745F0-24AC-C1FC-FD2F-9E8515345474}"/>
              </a:ext>
            </a:extLst>
          </p:cNvPr>
          <p:cNvCxnSpPr>
            <a:cxnSpLocks/>
          </p:cNvCxnSpPr>
          <p:nvPr/>
        </p:nvCxnSpPr>
        <p:spPr>
          <a:xfrm>
            <a:off x="4336211" y="1316343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B18B2-FDCA-480E-B366-01506D516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0217"/>
            <a:ext cx="6467169" cy="283010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today’s digital era, students consume learning content from multiple sources such as YouTube, blogs, documentation websites, and shared links YouTube</a:t>
            </a:r>
          </a:p>
          <a:p>
            <a:r>
              <a:rPr lang="en-US" dirty="0"/>
              <a:t>Often, students are unable to fully understand a concept immediately due to:</a:t>
            </a:r>
          </a:p>
          <a:p>
            <a:pPr lvl="1"/>
            <a:r>
              <a:rPr lang="en-US" dirty="0"/>
              <a:t>Time constraints</a:t>
            </a:r>
          </a:p>
          <a:p>
            <a:pPr lvl="1"/>
            <a:r>
              <a:rPr lang="en-US" dirty="0"/>
              <a:t>Lack of prerequisites</a:t>
            </a:r>
          </a:p>
          <a:p>
            <a:pPr lvl="1"/>
            <a:r>
              <a:rPr lang="en-US" dirty="0"/>
              <a:t>Cognitive overload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8DC50904-BF0B-1F16-B4CD-1A55FD041978}"/>
              </a:ext>
            </a:extLst>
          </p:cNvPr>
          <p:cNvSpPr txBox="1">
            <a:spLocks/>
          </p:cNvSpPr>
          <p:nvPr/>
        </p:nvSpPr>
        <p:spPr>
          <a:xfrm>
            <a:off x="838199" y="4670323"/>
            <a:ext cx="10382865" cy="147484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These resources are saved with the intention of revisiting them later.</a:t>
            </a:r>
          </a:p>
          <a:p>
            <a:r>
              <a:rPr lang="en-US" dirty="0"/>
              <a:t>However, there is no structured mechanism to track conceptual understanding or readiness.</a:t>
            </a:r>
          </a:p>
          <a:p>
            <a:r>
              <a:rPr lang="en-US" b="1" dirty="0"/>
              <a:t>Learning Reflection Platform</a:t>
            </a:r>
            <a:r>
              <a:rPr lang="en-US" dirty="0"/>
              <a:t> is designed to solve this problem by focusing on learning clarity rather than task completion.</a:t>
            </a:r>
          </a:p>
        </p:txBody>
      </p:sp>
    </p:spTree>
    <p:extLst>
      <p:ext uri="{BB962C8B-B14F-4D97-AF65-F5344CB8AC3E}">
        <p14:creationId xmlns:p14="http://schemas.microsoft.com/office/powerpoint/2010/main" val="3639522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B7BF-F727-32CB-EB6D-C50D26DE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C41D41-5C61-A9CF-DCDD-48B86EA65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DFCB4-51E7-5E7B-6384-9B1BAC9445C4}"/>
              </a:ext>
            </a:extLst>
          </p:cNvPr>
          <p:cNvSpPr txBox="1"/>
          <p:nvPr/>
        </p:nvSpPr>
        <p:spPr>
          <a:xfrm>
            <a:off x="838200" y="1414562"/>
            <a:ext cx="10820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Task Management Platforms</a:t>
            </a:r>
            <a:r>
              <a:rPr lang="en-US" i="1" dirty="0"/>
              <a:t> (Todo list, Notion)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Organize tasks and deadlines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Focus on completion tracking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Do not support conceptual understanding or learning clarity</a:t>
            </a:r>
          </a:p>
          <a:p>
            <a:r>
              <a:rPr lang="en-US" b="1" dirty="0"/>
              <a:t>2. Learning Management Systems (LMS)</a:t>
            </a:r>
            <a:r>
              <a:rPr lang="en-US" i="1" dirty="0"/>
              <a:t> (Moodle, Google Classroom)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Structured course delivery &amp; assessments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Institution-controlled platforms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Limited support for self-directed external learning resources</a:t>
            </a:r>
          </a:p>
          <a:p>
            <a:r>
              <a:rPr lang="en-US" b="1" dirty="0"/>
              <a:t>3. Reflective &amp; Self-Regulated Learning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Research highlights importance of metacognition &amp; reflection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Tracking conceptual clarity improves retention &amp; exam readiness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 structured tool for managing unresolved learning concepts</a:t>
            </a:r>
          </a:p>
          <a:p>
            <a:r>
              <a:rPr lang="en-US" b="1" dirty="0"/>
              <a:t>Identified Gap</a:t>
            </a:r>
          </a:p>
          <a:p>
            <a:r>
              <a:rPr lang="en-US" dirty="0"/>
              <a:t>Existing tools either:</a:t>
            </a:r>
          </a:p>
          <a:p>
            <a:r>
              <a:rPr lang="en-US" dirty="0"/>
              <a:t>Manage tasks </a:t>
            </a:r>
            <a:r>
              <a:rPr lang="en-US" b="1" dirty="0"/>
              <a:t>or </a:t>
            </a:r>
            <a:r>
              <a:rPr lang="en-US" dirty="0"/>
              <a:t>Deliver content</a:t>
            </a:r>
          </a:p>
          <a:p>
            <a:r>
              <a:rPr lang="en-US" dirty="0"/>
              <a:t>⚠️ But they do not support structured tracking of </a:t>
            </a:r>
            <a:r>
              <a:rPr lang="en-US" b="1" dirty="0"/>
              <a:t>unresolved learning items</a:t>
            </a:r>
            <a:r>
              <a:rPr lang="en-US" dirty="0"/>
              <a:t> in self-directed learning.</a:t>
            </a:r>
          </a:p>
        </p:txBody>
      </p:sp>
    </p:spTree>
    <p:extLst>
      <p:ext uri="{BB962C8B-B14F-4D97-AF65-F5344CB8AC3E}">
        <p14:creationId xmlns:p14="http://schemas.microsoft.com/office/powerpoint/2010/main" val="1663252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B444-5E39-1B68-AB50-F7028B9D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4F6789-E569-8106-C6F5-739616D64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3B262-097C-37D8-AF66-51FAAA2DCE34}"/>
              </a:ext>
            </a:extLst>
          </p:cNvPr>
          <p:cNvSpPr txBox="1"/>
          <p:nvPr/>
        </p:nvSpPr>
        <p:spPr>
          <a:xfrm>
            <a:off x="889233" y="1325089"/>
            <a:ext cx="1100503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today’s digital learning environment, students use multiple platforms</a:t>
            </a:r>
            <a:br>
              <a:rPr lang="en-US" sz="2000" dirty="0"/>
            </a:br>
            <a:r>
              <a:rPr lang="en-US" sz="2000" i="1" dirty="0"/>
              <a:t>(YouTube, blogs, documentation, shared links)</a:t>
            </a:r>
            <a:r>
              <a:rPr lang="en-US" sz="2000" dirty="0"/>
              <a:t>.</a:t>
            </a:r>
          </a:p>
          <a:p>
            <a:r>
              <a:rPr lang="en-US" sz="2000" b="1" dirty="0"/>
              <a:t>Challenges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Time constraints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Lack of prerequisites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Cognitive overload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Poor organization</a:t>
            </a:r>
          </a:p>
          <a:p>
            <a:r>
              <a:rPr lang="en-US" sz="2000" b="1" dirty="0"/>
              <a:t>Students save resources to revisit later, but: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Links get scattered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Unresolved concepts are forgotten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 structured clarity tracking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Tools focus on task completion, not understanding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 system to prioritize before exams/interviews</a:t>
            </a:r>
          </a:p>
          <a:p>
            <a:r>
              <a:rPr lang="en-US" sz="2000" b="1" dirty="0"/>
              <a:t>Result</a:t>
            </a:r>
          </a:p>
          <a:p>
            <a:r>
              <a:rPr lang="en-US" sz="2000" dirty="0"/>
              <a:t>Important concepts remain </a:t>
            </a:r>
            <a:r>
              <a:rPr lang="en-US" sz="2000" b="1" dirty="0"/>
              <a:t>partially understood or forgotten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affecting academic performance and preparation readiness.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7697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7021-4194-102E-B45C-460103B3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391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5609F-17A7-4380-313A-73A8334E3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main objectives of the Learning Reflection Platform are:</a:t>
            </a:r>
          </a:p>
          <a:p>
            <a:r>
              <a:rPr lang="en-US" dirty="0"/>
              <a:t>Provide a centralized platform for managing learning resources</a:t>
            </a:r>
          </a:p>
          <a:p>
            <a:r>
              <a:rPr lang="en-US" dirty="0"/>
              <a:t>Track learning progress based on clarity: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Confused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Partially Clear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Clear</a:t>
            </a:r>
          </a:p>
          <a:p>
            <a:r>
              <a:rPr lang="en-US" dirty="0"/>
              <a:t>Allow users to set target readiness dates</a:t>
            </a:r>
          </a:p>
          <a:p>
            <a:r>
              <a:rPr lang="en-US" dirty="0"/>
              <a:t>Encourage reflective learning through difficulty identification</a:t>
            </a:r>
          </a:p>
          <a:p>
            <a:r>
              <a:rPr lang="en-US" dirty="0"/>
              <a:t>Provide reminder mechanisms</a:t>
            </a:r>
          </a:p>
          <a:p>
            <a:r>
              <a:rPr lang="en-US" dirty="0"/>
              <a:t>Track interaction and revisit frequency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F8C78-885C-B2D7-D962-511C9C8AF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57AE-CDBE-AF6F-E417-0B2A7A22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Methodology</a:t>
            </a:r>
            <a:br>
              <a:rPr lang="en-IN" dirty="0"/>
            </a:br>
            <a:r>
              <a:rPr lang="en-IN" sz="3600" dirty="0"/>
              <a:t>1. Development Approach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AB967-0C45-3F0C-459B-C4766C01C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11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The Learning Reflection Platform will follow a </a:t>
            </a:r>
            <a:r>
              <a:rPr lang="en-US" b="1" dirty="0"/>
              <a:t>modular and incremental development approach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system will be divided into independent modules.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Each module will be designed, implemented, and tested separately.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Integration will be performed after validating individual components.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This approach will ensure scalability, maintainability, and structured growth of the system.</a:t>
            </a:r>
          </a:p>
          <a:p>
            <a:pPr marL="0" indent="0">
              <a:buNone/>
            </a:pPr>
            <a:r>
              <a:rPr lang="en-US" dirty="0"/>
              <a:t>Proposed modules include: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User Authentication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Learning Item Management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Metadata Extraction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Reminder &amp; Priority Evaluation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Interaction Tracking Module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5EF62-0388-06F0-0748-9F0C003ED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3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C1595-3F11-6385-0722-B4EA4DFE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662EA-48CF-CC9A-F570-88AF138C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Methodology</a:t>
            </a:r>
            <a:br>
              <a:rPr lang="en-IN" dirty="0"/>
            </a:br>
            <a:r>
              <a:rPr lang="en-IN" sz="3600" dirty="0"/>
              <a:t>2. 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0D4E1-0D92-3AEB-C03B-83424B081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11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platform will follow a </a:t>
            </a:r>
            <a:r>
              <a:rPr lang="en-US" b="1" dirty="0"/>
              <a:t>Client–Server Architecture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Frontend Layer: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Will be developed using HTML5, CSS3, JavaScript, and React.js.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Responsible for user interface, dashboards, and interaction controls.</a:t>
            </a:r>
          </a:p>
          <a:p>
            <a:pPr marL="0" indent="0">
              <a:buNone/>
            </a:pPr>
            <a:r>
              <a:rPr lang="en-US" b="1" dirty="0"/>
              <a:t>Backend Layer: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Will be built using Node.js and Express.js.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Responsible for business logic, API handling, and data processing.</a:t>
            </a:r>
          </a:p>
          <a:p>
            <a:pPr marL="0" indent="0">
              <a:buNone/>
            </a:pPr>
            <a:r>
              <a:rPr lang="en-US" b="1" dirty="0"/>
              <a:t>Database Layer: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MongoDB will be used for storing user data and learning items.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Mongoose will define structured schemas.</a:t>
            </a:r>
          </a:p>
          <a:p>
            <a:pPr marL="0" indent="0">
              <a:buNone/>
            </a:pPr>
            <a:r>
              <a:rPr lang="en-US" dirty="0"/>
              <a:t>Communication between frontend and backend will occur through REST APIs using JSON-based HTTP requests.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CD00E-6FBD-60BD-3333-96B5E7E3F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79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F847-1DAB-CAC1-790D-0E1C0FAA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8399-9226-4282-C942-CE421916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Methodology</a:t>
            </a:r>
            <a:br>
              <a:rPr lang="en-IN" dirty="0"/>
            </a:br>
            <a:r>
              <a:rPr lang="en-IN" sz="3600" dirty="0"/>
              <a:t>3. Functional 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167E-1CBC-A092-8E04-2EE435EA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11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proposed system workflow will be: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Users will register and log into the platform.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Users will add learning resource links.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backend will process the link and extract metadata.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Learning items will be stored in the database.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Users will set clarity level, difficulty reasons, priority, and readiness date.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system will evaluate deadlines and generate reminders.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 interactions (such as link visits) will be tracked for analysis.</a:t>
            </a:r>
          </a:p>
          <a:p>
            <a:pPr marL="0" indent="0">
              <a:buNone/>
            </a:pPr>
            <a:r>
              <a:rPr lang="en-US" dirty="0"/>
              <a:t>This workflow ensures structured learning reflection rather than simple task tracking.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E059F-7ABB-FE69-D996-CAFBD7EB2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406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1FF7-1DD8-4B82-5502-35EECACC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087"/>
            <a:ext cx="10515600" cy="365126"/>
          </a:xfrm>
        </p:spPr>
        <p:txBody>
          <a:bodyPr>
            <a:normAutofit fontScale="90000"/>
          </a:bodyPr>
          <a:lstStyle/>
          <a:p>
            <a:r>
              <a:rPr lang="en-US" dirty="0"/>
              <a:t>Societal impact or benefits to society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38668-D83A-7CCF-6DBF-02FCDE668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755"/>
            <a:ext cx="10911348" cy="5781367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US" sz="1600" b="1" dirty="0"/>
              <a:t>1. Promotes Structured Learning Habits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The platform encourages students to: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Reflect on what they do not understand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Track conceptual clarity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Revise before important deadlines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600" b="1" dirty="0"/>
              <a:t>2. Supports Self-Directed Education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With the rise of online learning platforms such as YouTube, Coursera, and Udemy, students increasingly learn independently. This platform helps to </a:t>
            </a:r>
            <a:r>
              <a:rPr lang="en-US" sz="1600" b="1" dirty="0"/>
              <a:t>manage resources efficiently</a:t>
            </a:r>
            <a:r>
              <a:rPr lang="en-US" sz="1600" dirty="0"/>
              <a:t>.</a:t>
            </a:r>
            <a:endParaRPr lang="en-US" sz="1600" b="1" dirty="0"/>
          </a:p>
          <a:p>
            <a:pPr marL="0" indent="0">
              <a:spcBef>
                <a:spcPts val="500"/>
              </a:spcBef>
              <a:buNone/>
            </a:pPr>
            <a:r>
              <a:rPr lang="en-US" sz="1600" b="1" dirty="0"/>
              <a:t>3. Reduces Learning Gaps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By tracking: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Confusion levels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Difficulty reasons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Readiness deadlines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600" b="1" dirty="0"/>
              <a:t>4. Encourages Reflective Thinking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The system applies principles of </a:t>
            </a:r>
            <a:r>
              <a:rPr lang="en-US" sz="1600" b="1" dirty="0"/>
              <a:t>self-reflection, metacognition, and active learning</a:t>
            </a:r>
            <a:r>
              <a:rPr lang="en-US" sz="1600" dirty="0"/>
              <a:t>. Students move from passive content consumption to active understanding evaluation. This improves long-term retention.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600" b="1" dirty="0"/>
              <a:t>5. Improves Academic &amp; Career Preparedness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By setting readiness deadlines for: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Exams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Competitive tests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Job interviews Students prepare in a structured and timely manner.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600" b="1" dirty="0"/>
              <a:t>6. Digital Organization &amp; Productivity Enhancement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The platform reduces: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Scattered saved links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Forgotten bookmarks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Char char="§"/>
            </a:pPr>
            <a:r>
              <a:rPr lang="en-US" sz="1600" dirty="0"/>
              <a:t>Unused study materials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95B7F-A7EF-D83A-2BBF-61E9B6F84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932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5A7B-FB4F-E9D1-815B-DF84FFD4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BFBCE-CD21-E117-DDD0-AFEABD33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43099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The Learning Reflection Platform addresses a critical gap in modern digital education by focusing not on task completion, but on conceptual understanding and reflective learning.</a:t>
            </a:r>
          </a:p>
          <a:p>
            <a:pPr marL="0" indent="0">
              <a:buNone/>
            </a:pPr>
            <a:r>
              <a:rPr lang="en-US" dirty="0"/>
              <a:t>In today's environment, students consume large amounts of online educational content but lack a structured way to track what they do not understand. Existing systems either manage tasks or deliver content, but do not support clarity tracking and learning reflection.</a:t>
            </a:r>
          </a:p>
          <a:p>
            <a:pPr marL="0" indent="0">
              <a:buNone/>
            </a:pPr>
            <a:r>
              <a:rPr lang="en-US" b="1" dirty="0"/>
              <a:t>Platform Provisions</a:t>
            </a:r>
          </a:p>
          <a:p>
            <a:pPr marL="0" indent="0">
              <a:buNone/>
            </a:pPr>
            <a:r>
              <a:rPr lang="en-US" dirty="0"/>
              <a:t>This platform provides:</a:t>
            </a:r>
          </a:p>
          <a:p>
            <a:r>
              <a:rPr lang="en-US" dirty="0"/>
              <a:t>Centralized management of learning resources</a:t>
            </a:r>
          </a:p>
          <a:p>
            <a:r>
              <a:rPr lang="en-US" dirty="0"/>
              <a:t>Clarity-based progress tracking</a:t>
            </a:r>
          </a:p>
          <a:p>
            <a:r>
              <a:rPr lang="en-US" dirty="0"/>
              <a:t>Difficulty reflection mechanisms</a:t>
            </a:r>
          </a:p>
          <a:p>
            <a:r>
              <a:rPr lang="en-US" dirty="0"/>
              <a:t>Priority and readiness-based reminders</a:t>
            </a:r>
          </a:p>
          <a:p>
            <a:r>
              <a:rPr lang="en-US" dirty="0"/>
              <a:t>Interaction tracking for accountability</a:t>
            </a:r>
          </a:p>
          <a:p>
            <a:pPr marL="0" indent="0">
              <a:buNone/>
            </a:pPr>
            <a:r>
              <a:rPr lang="en-US" b="1" dirty="0"/>
              <a:t>Student Benefits</a:t>
            </a:r>
          </a:p>
          <a:p>
            <a:pPr marL="0" indent="0">
              <a:buNone/>
            </a:pPr>
            <a:r>
              <a:rPr lang="en-US" dirty="0"/>
              <a:t>By integrating structured organization with reflective learning principles, the system helps students:</a:t>
            </a:r>
          </a:p>
          <a:p>
            <a:r>
              <a:rPr lang="en-US" dirty="0"/>
              <a:t>Reduce conceptual gaps</a:t>
            </a:r>
          </a:p>
          <a:p>
            <a:r>
              <a:rPr lang="en-US" dirty="0"/>
              <a:t>Improve exam and interview readiness</a:t>
            </a:r>
          </a:p>
          <a:p>
            <a:r>
              <a:rPr lang="en-US" dirty="0"/>
              <a:t>Develop disciplined and self-regulated learning habits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56C51-2858-2BB6-E31C-613F31670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6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809BF-1133-238B-3B86-F0C4BA10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60226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9A632-DFAF-9379-5AC0-CD7B885BB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9949B9-C831-29BF-01FC-314DA38D4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264" y="1061884"/>
            <a:ext cx="9097160" cy="51150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071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1199</TotalTime>
  <Words>989</Words>
  <Application>Microsoft Office PowerPoint</Application>
  <PresentationFormat>Widescreen</PresentationFormat>
  <Paragraphs>156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Metropolis</vt:lpstr>
      <vt:lpstr>Metropolis Semi Bold</vt:lpstr>
      <vt:lpstr>Times New Roman</vt:lpstr>
      <vt:lpstr>Wingdings</vt:lpstr>
      <vt:lpstr>Zilla Slab</vt:lpstr>
      <vt:lpstr>Office Theme</vt:lpstr>
      <vt:lpstr>Learning Reflection Platform</vt:lpstr>
      <vt:lpstr>Contents</vt:lpstr>
      <vt:lpstr>Introduction</vt:lpstr>
      <vt:lpstr>Literature Review</vt:lpstr>
      <vt:lpstr>Problem Definition</vt:lpstr>
      <vt:lpstr>Objectives</vt:lpstr>
      <vt:lpstr>Methodology 1. Development Approach</vt:lpstr>
      <vt:lpstr>Methodology 2. System Architecture</vt:lpstr>
      <vt:lpstr>Methodology 3. Functional Workflow</vt:lpstr>
      <vt:lpstr>Societal impact or benefits to society</vt:lpstr>
      <vt:lpstr>Conclusion</vt:lpstr>
      <vt:lpstr>Sample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Text Here</dc:title>
  <dc:creator>Shantilal Bhayal</dc:creator>
  <cp:lastModifiedBy>Amita Kumari</cp:lastModifiedBy>
  <cp:revision>39</cp:revision>
  <dcterms:created xsi:type="dcterms:W3CDTF">2025-10-08T00:30:40Z</dcterms:created>
  <dcterms:modified xsi:type="dcterms:W3CDTF">2026-02-26T00:50:41Z</dcterms:modified>
</cp:coreProperties>
</file>