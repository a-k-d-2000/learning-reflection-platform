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1"/>
  </p:notesMasterIdLst>
  <p:sldIdLst>
    <p:sldId id="256" r:id="rId2"/>
    <p:sldId id="257" r:id="rId3"/>
    <p:sldId id="258" r:id="rId4"/>
    <p:sldId id="260" r:id="rId5"/>
    <p:sldId id="275" r:id="rId6"/>
    <p:sldId id="276" r:id="rId7"/>
    <p:sldId id="261" r:id="rId8"/>
    <p:sldId id="262" r:id="rId9"/>
    <p:sldId id="266" r:id="rId10"/>
    <p:sldId id="267" r:id="rId11"/>
    <p:sldId id="268" r:id="rId12"/>
    <p:sldId id="269" r:id="rId13"/>
    <p:sldId id="277" r:id="rId14"/>
    <p:sldId id="270" r:id="rId15"/>
    <p:sldId id="271" r:id="rId16"/>
    <p:sldId id="273" r:id="rId17"/>
    <p:sldId id="274" r:id="rId18"/>
    <p:sldId id="263" r:id="rId19"/>
    <p:sldId id="272" r:id="rId20"/>
  </p:sldIdLst>
  <p:sldSz cx="12192000" cy="6858000"/>
  <p:notesSz cx="6858000" cy="9144000"/>
  <p:embeddedFontLst>
    <p:embeddedFont>
      <p:font typeface="Zilla Slab" panose="020B0604020202020204" charset="0"/>
      <p:regular r:id="rId22"/>
      <p:bold r:id="rId23"/>
      <p: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60"/>
  </p:normalViewPr>
  <p:slideViewPr>
    <p:cSldViewPr snapToGrid="0">
      <p:cViewPr varScale="1">
        <p:scale>
          <a:sx n="62" d="100"/>
          <a:sy n="62" d="100"/>
        </p:scale>
        <p:origin x="736"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 name="Google Shape;11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cf847ae7ea_0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cf847ae7ea_0_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g3cf847ae7ea_0_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blip>
          <a:srcRect/>
          <a:stretch/>
        </p:blipFill>
        <p:spPr>
          <a:xfrm>
            <a:off x="0" y="0"/>
            <a:ext cx="12192000" cy="6857999"/>
          </a:xfrm>
          <a:prstGeom prst="rect">
            <a:avLst/>
          </a:prstGeom>
          <a:noFill/>
          <a:ln>
            <a:noFill/>
          </a:ln>
        </p:spPr>
      </p:pic>
      <p:sp>
        <p:nvSpPr>
          <p:cNvPr id="17" name="Google Shape;17;p2"/>
          <p:cNvSpPr txBox="1">
            <a:spLocks noGrp="1"/>
          </p:cNvSpPr>
          <p:nvPr>
            <p:ph type="ctrTitle"/>
          </p:nvPr>
        </p:nvSpPr>
        <p:spPr>
          <a:xfrm>
            <a:off x="944880" y="2836506"/>
            <a:ext cx="9598712" cy="194253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subTitle" idx="1"/>
          </p:nvPr>
        </p:nvSpPr>
        <p:spPr>
          <a:xfrm>
            <a:off x="944880" y="5108704"/>
            <a:ext cx="9144000" cy="605502"/>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3600"/>
              <a:buNone/>
              <a:defRPr sz="3600">
                <a:solidFill>
                  <a:schemeClr val="lt1"/>
                </a:solidFill>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9" name="Google Shape;19;p2"/>
          <p:cNvPicPr preferRelativeResize="0"/>
          <p:nvPr/>
        </p:nvPicPr>
        <p:blipFill rotWithShape="1">
          <a:blip r:embed="rId3">
            <a:alphaModFix/>
          </a:blip>
          <a:srcRect/>
          <a:stretch/>
        </p:blipFill>
        <p:spPr>
          <a:xfrm>
            <a:off x="944880" y="1041399"/>
            <a:ext cx="3151259" cy="686813"/>
          </a:xfrm>
          <a:prstGeom prst="rect">
            <a:avLst/>
          </a:prstGeom>
          <a:noFill/>
          <a:ln>
            <a:noFill/>
          </a:ln>
        </p:spPr>
      </p:pic>
      <p:pic>
        <p:nvPicPr>
          <p:cNvPr id="20" name="Google Shape;20;p2"/>
          <p:cNvPicPr preferRelativeResize="0"/>
          <p:nvPr/>
        </p:nvPicPr>
        <p:blipFill rotWithShape="1">
          <a:blip r:embed="rId4">
            <a:alphaModFix/>
          </a:blip>
          <a:srcRect/>
          <a:stretch/>
        </p:blipFill>
        <p:spPr>
          <a:xfrm>
            <a:off x="944880" y="6334744"/>
            <a:ext cx="1725318" cy="365792"/>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pic>
        <p:nvPicPr>
          <p:cNvPr id="22" name="Google Shape;22;p3"/>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23" name="Google Shape;23;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25" name="Google Shape;25;p3"/>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26" name="Google Shape;26;p3"/>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27" name="Google Shape;27;p3"/>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chemeClr val="lt1"/>
                </a:solidFill>
                <a:latin typeface="Arial"/>
                <a:ea typeface="Arial"/>
                <a:cs typeface="Arial"/>
                <a:sym typeface="Arial"/>
              </a:defRPr>
            </a:lvl1pPr>
            <a:lvl2pPr marL="0" lvl="1" indent="0" algn="r">
              <a:spcBef>
                <a:spcPts val="0"/>
              </a:spcBef>
              <a:buNone/>
              <a:defRPr sz="1200" b="0" i="0" u="none" strike="noStrike" cap="none">
                <a:solidFill>
                  <a:schemeClr val="lt1"/>
                </a:solidFill>
                <a:latin typeface="Arial"/>
                <a:ea typeface="Arial"/>
                <a:cs typeface="Arial"/>
                <a:sym typeface="Arial"/>
              </a:defRPr>
            </a:lvl2pPr>
            <a:lvl3pPr marL="0" lvl="2" indent="0" algn="r">
              <a:spcBef>
                <a:spcPts val="0"/>
              </a:spcBef>
              <a:buNone/>
              <a:defRPr sz="1200" b="0" i="0" u="none" strike="noStrike" cap="none">
                <a:solidFill>
                  <a:schemeClr val="lt1"/>
                </a:solidFill>
                <a:latin typeface="Arial"/>
                <a:ea typeface="Arial"/>
                <a:cs typeface="Arial"/>
                <a:sym typeface="Arial"/>
              </a:defRPr>
            </a:lvl3pPr>
            <a:lvl4pPr marL="0" lvl="3" indent="0" algn="r">
              <a:spcBef>
                <a:spcPts val="0"/>
              </a:spcBef>
              <a:buNone/>
              <a:defRPr sz="1200" b="0" i="0" u="none" strike="noStrike" cap="none">
                <a:solidFill>
                  <a:schemeClr val="lt1"/>
                </a:solidFill>
                <a:latin typeface="Arial"/>
                <a:ea typeface="Arial"/>
                <a:cs typeface="Arial"/>
                <a:sym typeface="Arial"/>
              </a:defRPr>
            </a:lvl4pPr>
            <a:lvl5pPr marL="0" lvl="4" indent="0" algn="r">
              <a:spcBef>
                <a:spcPts val="0"/>
              </a:spcBef>
              <a:buNone/>
              <a:defRPr sz="1200" b="0" i="0" u="none" strike="noStrike" cap="none">
                <a:solidFill>
                  <a:schemeClr val="lt1"/>
                </a:solidFill>
                <a:latin typeface="Arial"/>
                <a:ea typeface="Arial"/>
                <a:cs typeface="Arial"/>
                <a:sym typeface="Arial"/>
              </a:defRPr>
            </a:lvl5pPr>
            <a:lvl6pPr marL="0" lvl="5" indent="0" algn="r">
              <a:spcBef>
                <a:spcPts val="0"/>
              </a:spcBef>
              <a:buNone/>
              <a:defRPr sz="1200" b="0" i="0" u="none" strike="noStrike" cap="none">
                <a:solidFill>
                  <a:schemeClr val="lt1"/>
                </a:solidFill>
                <a:latin typeface="Arial"/>
                <a:ea typeface="Arial"/>
                <a:cs typeface="Arial"/>
                <a:sym typeface="Arial"/>
              </a:defRPr>
            </a:lvl6pPr>
            <a:lvl7pPr marL="0" lvl="6" indent="0" algn="r">
              <a:spcBef>
                <a:spcPts val="0"/>
              </a:spcBef>
              <a:buNone/>
              <a:defRPr sz="1200" b="0" i="0" u="none" strike="noStrike" cap="none">
                <a:solidFill>
                  <a:schemeClr val="lt1"/>
                </a:solidFill>
                <a:latin typeface="Arial"/>
                <a:ea typeface="Arial"/>
                <a:cs typeface="Arial"/>
                <a:sym typeface="Arial"/>
              </a:defRPr>
            </a:lvl7pPr>
            <a:lvl8pPr marL="0" lvl="7" indent="0" algn="r">
              <a:spcBef>
                <a:spcPts val="0"/>
              </a:spcBef>
              <a:buNone/>
              <a:defRPr sz="1200" b="0" i="0" u="none" strike="noStrike" cap="none">
                <a:solidFill>
                  <a:schemeClr val="lt1"/>
                </a:solidFill>
                <a:latin typeface="Arial"/>
                <a:ea typeface="Arial"/>
                <a:cs typeface="Arial"/>
                <a:sym typeface="Arial"/>
              </a:defRPr>
            </a:lvl8pPr>
            <a:lvl9pPr marL="0" lvl="8" indent="0" algn="r">
              <a:spcBef>
                <a:spcPts val="0"/>
              </a:spcBef>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28" name="Google Shape;28;p3"/>
          <p:cNvPicPr preferRelativeResize="0"/>
          <p:nvPr/>
        </p:nvPicPr>
        <p:blipFill rotWithShape="1">
          <a:blip r:embed="rId5">
            <a:alphaModFix amt="20000"/>
          </a:blip>
          <a:srcRect t="911" r="25323" b="911"/>
          <a:stretch/>
        </p:blipFill>
        <p:spPr>
          <a:xfrm>
            <a:off x="0" y="0"/>
            <a:ext cx="12164007" cy="6858000"/>
          </a:xfrm>
          <a:prstGeom prst="rect">
            <a:avLst/>
          </a:prstGeom>
          <a:noFill/>
          <a:ln>
            <a:noFill/>
          </a:ln>
        </p:spPr>
      </p:pic>
      <p:sp>
        <p:nvSpPr>
          <p:cNvPr id="29" name="Google Shape;29;p3"/>
          <p:cNvSpPr/>
          <p:nvPr/>
        </p:nvSpPr>
        <p:spPr>
          <a:xfrm>
            <a:off x="0" y="0"/>
            <a:ext cx="346364" cy="421972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0" name="Google Shape;30;p3"/>
          <p:cNvSpPr/>
          <p:nvPr/>
        </p:nvSpPr>
        <p:spPr>
          <a:xfrm>
            <a:off x="0" y="4219720"/>
            <a:ext cx="346364" cy="2638278"/>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cxnSp>
        <p:nvCxnSpPr>
          <p:cNvPr id="31" name="Google Shape;31;p3"/>
          <p:cNvCxnSpPr/>
          <p:nvPr/>
        </p:nvCxnSpPr>
        <p:spPr>
          <a:xfrm>
            <a:off x="914400" y="6280030"/>
            <a:ext cx="1863306" cy="0"/>
          </a:xfrm>
          <a:prstGeom prst="straightConnector1">
            <a:avLst/>
          </a:prstGeom>
          <a:noFill/>
          <a:ln w="19050" cap="flat" cmpd="sng">
            <a:solidFill>
              <a:schemeClr val="lt2"/>
            </a:solidFill>
            <a:prstDash val="solid"/>
            <a:miter lim="800000"/>
            <a:headEnd type="none" w="sm" len="sm"/>
            <a:tailEnd type="none" w="sm" len="sm"/>
          </a:ln>
        </p:spPr>
      </p:cxn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pic>
        <p:nvPicPr>
          <p:cNvPr id="33" name="Google Shape;33;p4"/>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34" name="Google Shape;34;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6000"/>
              <a:buFont typeface="Arial"/>
              <a:buNone/>
              <a:defRPr sz="6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pic>
        <p:nvPicPr>
          <p:cNvPr id="36" name="Google Shape;36;p4"/>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37" name="Google Shape;37;p4"/>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38" name="Google Shape;38;p4"/>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pic>
        <p:nvPicPr>
          <p:cNvPr id="40" name="Google Shape;40;p5"/>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41" name="Google Shape;41;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44" name="Google Shape;44;p5"/>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45" name="Google Shape;45;p5"/>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46" name="Google Shape;46;p5"/>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pic>
        <p:nvPicPr>
          <p:cNvPr id="48" name="Google Shape;48;p6"/>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49" name="Google Shape;49;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2"/>
              </a:buClr>
              <a:buSzPts val="2400"/>
              <a:buNone/>
              <a:defRPr sz="2400" b="1">
                <a:solidFill>
                  <a:schemeClr val="lt2"/>
                </a:solidFill>
                <a:latin typeface="Zilla Slab"/>
                <a:ea typeface="Zilla Slab"/>
                <a:cs typeface="Zilla Slab"/>
                <a:sym typeface="Zilla Slab"/>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1" name="Google Shape;51;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2"/>
              </a:buClr>
              <a:buSzPts val="2400"/>
              <a:buNone/>
              <a:defRPr sz="2400" b="1">
                <a:solidFill>
                  <a:schemeClr val="lt2"/>
                </a:solidFill>
                <a:latin typeface="Zilla Slab"/>
                <a:ea typeface="Zilla Slab"/>
                <a:cs typeface="Zilla Slab"/>
                <a:sym typeface="Zilla Slab"/>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 name="Google Shape;53;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54" name="Google Shape;54;p6"/>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55" name="Google Shape;55;p6"/>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56" name="Google Shape;56;p6"/>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7"/>
        <p:cNvGrpSpPr/>
        <p:nvPr/>
      </p:nvGrpSpPr>
      <p:grpSpPr>
        <a:xfrm>
          <a:off x="0" y="0"/>
          <a:ext cx="0" cy="0"/>
          <a:chOff x="0" y="0"/>
          <a:chExt cx="0" cy="0"/>
        </a:xfrm>
      </p:grpSpPr>
      <p:pic>
        <p:nvPicPr>
          <p:cNvPr id="58" name="Google Shape;58;p7"/>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59" name="Google Shape;59;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60" name="Google Shape;60;p7"/>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61" name="Google Shape;61;p7"/>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62" name="Google Shape;62;p7"/>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a:stretch/>
        </p:blipFill>
        <p:spPr>
          <a:xfrm>
            <a:off x="11756135" y="0"/>
            <a:ext cx="435865" cy="432817"/>
          </a:xfrm>
          <a:prstGeom prst="rect">
            <a:avLst/>
          </a:prstGeom>
          <a:noFill/>
          <a:ln>
            <a:noFill/>
          </a:ln>
        </p:spPr>
      </p:pic>
      <p:pic>
        <p:nvPicPr>
          <p:cNvPr id="65" name="Google Shape;65;p8"/>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66" name="Google Shape;66;p8"/>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67" name="Google Shape;67;p8"/>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8"/>
        <p:cNvGrpSpPr/>
        <p:nvPr/>
      </p:nvGrpSpPr>
      <p:grpSpPr>
        <a:xfrm>
          <a:off x="0" y="0"/>
          <a:ext cx="0" cy="0"/>
          <a:chOff x="0" y="0"/>
          <a:chExt cx="0" cy="0"/>
        </a:xfrm>
      </p:grpSpPr>
      <p:pic>
        <p:nvPicPr>
          <p:cNvPr id="69" name="Google Shape;69;p9"/>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70" name="Google Shape;70;p9"/>
          <p:cNvSpPr txBox="1">
            <a:spLocks noGrp="1"/>
          </p:cNvSpPr>
          <p:nvPr>
            <p:ph type="title"/>
          </p:nvPr>
        </p:nvSpPr>
        <p:spPr>
          <a:xfrm>
            <a:off x="839788" y="457200"/>
            <a:ext cx="3932237" cy="111283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3200"/>
              <a:buFont typeface="Arial"/>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2" name="Google Shape;72;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73" name="Google Shape;73;p9"/>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74" name="Google Shape;74;p9"/>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75" name="Google Shape;75;p9"/>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6"/>
        <p:cNvGrpSpPr/>
        <p:nvPr/>
      </p:nvGrpSpPr>
      <p:grpSpPr>
        <a:xfrm>
          <a:off x="0" y="0"/>
          <a:ext cx="0" cy="0"/>
          <a:chOff x="0" y="0"/>
          <a:chExt cx="0" cy="0"/>
        </a:xfrm>
      </p:grpSpPr>
      <p:sp>
        <p:nvSpPr>
          <p:cNvPr id="77" name="Google Shape;77;p10"/>
          <p:cNvSpPr/>
          <p:nvPr/>
        </p:nvSpPr>
        <p:spPr>
          <a:xfrm>
            <a:off x="5076825" y="885825"/>
            <a:ext cx="6275387" cy="4983163"/>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78" name="Google Shape;78;p10"/>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79" name="Google Shape;79;p10"/>
          <p:cNvSpPr txBox="1">
            <a:spLocks noGrp="1"/>
          </p:cNvSpPr>
          <p:nvPr>
            <p:ph type="title"/>
          </p:nvPr>
        </p:nvSpPr>
        <p:spPr>
          <a:xfrm>
            <a:off x="839788" y="457200"/>
            <a:ext cx="3932237" cy="111283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3200"/>
              <a:buFont typeface="Arial"/>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0"/>
          <p:cNvSpPr>
            <a:spLocks noGrp="1"/>
          </p:cNvSpPr>
          <p:nvPr>
            <p:ph type="pic" idx="2"/>
          </p:nvPr>
        </p:nvSpPr>
        <p:spPr>
          <a:xfrm>
            <a:off x="5183188" y="987426"/>
            <a:ext cx="6065837" cy="4737100"/>
          </a:xfrm>
          <a:prstGeom prst="rect">
            <a:avLst/>
          </a:prstGeom>
          <a:noFill/>
          <a:ln>
            <a:noFill/>
          </a:ln>
        </p:spPr>
      </p:sp>
      <p:sp>
        <p:nvSpPr>
          <p:cNvPr id="81" name="Google Shape;81;p10"/>
          <p:cNvSpPr txBox="1">
            <a:spLocks noGrp="1"/>
          </p:cNvSpPr>
          <p:nvPr>
            <p:ph type="body" idx="1"/>
          </p:nvPr>
        </p:nvSpPr>
        <p:spPr>
          <a:xfrm>
            <a:off x="839788" y="1578718"/>
            <a:ext cx="3932237" cy="42902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82" name="Google Shape;82;p10"/>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83" name="Google Shape;83;p10"/>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84" name="Google Shape;84;p10"/>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5"/>
        <p:cNvGrpSpPr/>
        <p:nvPr/>
      </p:nvGrpSpPr>
      <p:grpSpPr>
        <a:xfrm>
          <a:off x="0" y="0"/>
          <a:ext cx="0" cy="0"/>
          <a:chOff x="0" y="0"/>
          <a:chExt cx="0" cy="0"/>
        </a:xfrm>
      </p:grpSpPr>
      <p:pic>
        <p:nvPicPr>
          <p:cNvPr id="86" name="Google Shape;86;p11"/>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87" name="Google Shape;87;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89" name="Google Shape;89;p11"/>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90" name="Google Shape;90;p11"/>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91" name="Google Shape;91;p11"/>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2"/>
        <p:cNvGrpSpPr/>
        <p:nvPr/>
      </p:nvGrpSpPr>
      <p:grpSpPr>
        <a:xfrm>
          <a:off x="0" y="0"/>
          <a:ext cx="0" cy="0"/>
          <a:chOff x="0" y="0"/>
          <a:chExt cx="0" cy="0"/>
        </a:xfrm>
      </p:grpSpPr>
      <p:pic>
        <p:nvPicPr>
          <p:cNvPr id="93" name="Google Shape;93;p12"/>
          <p:cNvPicPr preferRelativeResize="0"/>
          <p:nvPr/>
        </p:nvPicPr>
        <p:blipFill rotWithShape="1">
          <a:blip r:embed="rId2">
            <a:alphaModFix/>
          </a:blip>
          <a:srcRect/>
          <a:stretch/>
        </p:blipFill>
        <p:spPr>
          <a:xfrm>
            <a:off x="11756135" y="0"/>
            <a:ext cx="435865" cy="432817"/>
          </a:xfrm>
          <a:prstGeom prst="rect">
            <a:avLst/>
          </a:prstGeom>
          <a:noFill/>
          <a:ln>
            <a:noFill/>
          </a:ln>
        </p:spPr>
      </p:pic>
      <p:sp>
        <p:nvSpPr>
          <p:cNvPr id="94" name="Google Shape;94;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5" name="Google Shape;95;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96" name="Google Shape;96;p12"/>
          <p:cNvPicPr preferRelativeResize="0"/>
          <p:nvPr/>
        </p:nvPicPr>
        <p:blipFill rotWithShape="1">
          <a:blip r:embed="rId3">
            <a:alphaModFix/>
          </a:blip>
          <a:srcRect/>
          <a:stretch/>
        </p:blipFill>
        <p:spPr>
          <a:xfrm>
            <a:off x="835002" y="6356350"/>
            <a:ext cx="1725318" cy="365792"/>
          </a:xfrm>
          <a:prstGeom prst="rect">
            <a:avLst/>
          </a:prstGeom>
          <a:noFill/>
          <a:ln>
            <a:noFill/>
          </a:ln>
        </p:spPr>
      </p:pic>
      <p:pic>
        <p:nvPicPr>
          <p:cNvPr id="97" name="Google Shape;97;p12"/>
          <p:cNvPicPr preferRelativeResize="0"/>
          <p:nvPr/>
        </p:nvPicPr>
        <p:blipFill rotWithShape="1">
          <a:blip r:embed="rId4">
            <a:alphaModFix/>
          </a:blip>
          <a:srcRect/>
          <a:stretch/>
        </p:blipFill>
        <p:spPr>
          <a:xfrm>
            <a:off x="11353800" y="5986785"/>
            <a:ext cx="539470" cy="617231"/>
          </a:xfrm>
          <a:prstGeom prst="rect">
            <a:avLst/>
          </a:prstGeom>
          <a:noFill/>
          <a:ln>
            <a:noFill/>
          </a:ln>
        </p:spPr>
      </p:pic>
      <p:sp>
        <p:nvSpPr>
          <p:cNvPr id="98" name="Google Shape;98;p12"/>
          <p:cNvSpPr txBox="1">
            <a:spLocks noGrp="1"/>
          </p:cNvSpPr>
          <p:nvPr>
            <p:ph type="sldNum" idx="12"/>
          </p:nvPr>
        </p:nvSpPr>
        <p:spPr>
          <a:xfrm>
            <a:off x="11624537" y="39525"/>
            <a:ext cx="53947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1"/>
                </a:solidFill>
                <a:latin typeface="Arial"/>
                <a:ea typeface="Arial"/>
                <a:cs typeface="Arial"/>
                <a:sym typeface="Arial"/>
              </a:defRPr>
            </a:lvl1pPr>
            <a:lvl2pPr marL="0" lvl="1" indent="0" algn="r">
              <a:spcBef>
                <a:spcPts val="0"/>
              </a:spcBef>
              <a:buNone/>
              <a:defRPr sz="1200">
                <a:solidFill>
                  <a:schemeClr val="lt1"/>
                </a:solidFill>
                <a:latin typeface="Arial"/>
                <a:ea typeface="Arial"/>
                <a:cs typeface="Arial"/>
                <a:sym typeface="Arial"/>
              </a:defRPr>
            </a:lvl2pPr>
            <a:lvl3pPr marL="0" lvl="2" indent="0" algn="r">
              <a:spcBef>
                <a:spcPts val="0"/>
              </a:spcBef>
              <a:buNone/>
              <a:defRPr sz="1200">
                <a:solidFill>
                  <a:schemeClr val="lt1"/>
                </a:solidFill>
                <a:latin typeface="Arial"/>
                <a:ea typeface="Arial"/>
                <a:cs typeface="Arial"/>
                <a:sym typeface="Arial"/>
              </a:defRPr>
            </a:lvl3pPr>
            <a:lvl4pPr marL="0" lvl="3" indent="0" algn="r">
              <a:spcBef>
                <a:spcPts val="0"/>
              </a:spcBef>
              <a:buNone/>
              <a:defRPr sz="1200">
                <a:solidFill>
                  <a:schemeClr val="lt1"/>
                </a:solidFill>
                <a:latin typeface="Arial"/>
                <a:ea typeface="Arial"/>
                <a:cs typeface="Arial"/>
                <a:sym typeface="Arial"/>
              </a:defRPr>
            </a:lvl4pPr>
            <a:lvl5pPr marL="0" lvl="4" indent="0" algn="r">
              <a:spcBef>
                <a:spcPts val="0"/>
              </a:spcBef>
              <a:buNone/>
              <a:defRPr sz="1200">
                <a:solidFill>
                  <a:schemeClr val="lt1"/>
                </a:solidFill>
                <a:latin typeface="Arial"/>
                <a:ea typeface="Arial"/>
                <a:cs typeface="Arial"/>
                <a:sym typeface="Arial"/>
              </a:defRPr>
            </a:lvl5pPr>
            <a:lvl6pPr marL="0" lvl="5" indent="0" algn="r">
              <a:spcBef>
                <a:spcPts val="0"/>
              </a:spcBef>
              <a:buNone/>
              <a:defRPr sz="1200">
                <a:solidFill>
                  <a:schemeClr val="lt1"/>
                </a:solidFill>
                <a:latin typeface="Arial"/>
                <a:ea typeface="Arial"/>
                <a:cs typeface="Arial"/>
                <a:sym typeface="Arial"/>
              </a:defRPr>
            </a:lvl6pPr>
            <a:lvl7pPr marL="0" lvl="6" indent="0" algn="r">
              <a:spcBef>
                <a:spcPts val="0"/>
              </a:spcBef>
              <a:buNone/>
              <a:defRPr sz="1200">
                <a:solidFill>
                  <a:schemeClr val="lt1"/>
                </a:solidFill>
                <a:latin typeface="Arial"/>
                <a:ea typeface="Arial"/>
                <a:cs typeface="Arial"/>
                <a:sym typeface="Arial"/>
              </a:defRPr>
            </a:lvl7pPr>
            <a:lvl8pPr marL="0" lvl="7" indent="0" algn="r">
              <a:spcBef>
                <a:spcPts val="0"/>
              </a:spcBef>
              <a:buNone/>
              <a:defRPr sz="1200">
                <a:solidFill>
                  <a:schemeClr val="lt1"/>
                </a:solidFill>
                <a:latin typeface="Arial"/>
                <a:ea typeface="Arial"/>
                <a:cs typeface="Arial"/>
                <a:sym typeface="Arial"/>
              </a:defRPr>
            </a:lvl8pPr>
            <a:lvl9pPr marL="0" lvl="8" indent="0" algn="r">
              <a:spcBef>
                <a:spcPts val="0"/>
              </a:spcBef>
              <a:buNone/>
              <a:defRPr sz="120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bg>
      <p:bgPr>
        <a:solidFill>
          <a:schemeClr val="dk2"/>
        </a:solidFill>
        <a:effectLst/>
      </p:bgPr>
    </p:bg>
    <p:spTree>
      <p:nvGrpSpPr>
        <p:cNvPr id="1" name="Shape 99"/>
        <p:cNvGrpSpPr/>
        <p:nvPr/>
      </p:nvGrpSpPr>
      <p:grpSpPr>
        <a:xfrm>
          <a:off x="0" y="0"/>
          <a:ext cx="0" cy="0"/>
          <a:chOff x="0" y="0"/>
          <a:chExt cx="0" cy="0"/>
        </a:xfrm>
      </p:grpSpPr>
      <p:pic>
        <p:nvPicPr>
          <p:cNvPr id="100" name="Google Shape;100;p13"/>
          <p:cNvPicPr preferRelativeResize="0"/>
          <p:nvPr/>
        </p:nvPicPr>
        <p:blipFill rotWithShape="1">
          <a:blip r:embed="rId2">
            <a:alphaModFix/>
          </a:blip>
          <a:srcRect/>
          <a:stretch/>
        </p:blipFill>
        <p:spPr>
          <a:xfrm>
            <a:off x="1092362" y="3032254"/>
            <a:ext cx="342035" cy="376238"/>
          </a:xfrm>
          <a:prstGeom prst="rect">
            <a:avLst/>
          </a:prstGeom>
          <a:noFill/>
          <a:ln>
            <a:noFill/>
          </a:ln>
        </p:spPr>
      </p:pic>
      <p:pic>
        <p:nvPicPr>
          <p:cNvPr id="101" name="Google Shape;101;p13"/>
          <p:cNvPicPr preferRelativeResize="0"/>
          <p:nvPr/>
        </p:nvPicPr>
        <p:blipFill rotWithShape="1">
          <a:blip r:embed="rId3">
            <a:alphaModFix/>
          </a:blip>
          <a:srcRect/>
          <a:stretch/>
        </p:blipFill>
        <p:spPr>
          <a:xfrm>
            <a:off x="1109779" y="3926565"/>
            <a:ext cx="307200" cy="384000"/>
          </a:xfrm>
          <a:prstGeom prst="rect">
            <a:avLst/>
          </a:prstGeom>
          <a:noFill/>
          <a:ln>
            <a:noFill/>
          </a:ln>
        </p:spPr>
      </p:pic>
      <p:pic>
        <p:nvPicPr>
          <p:cNvPr id="102" name="Google Shape;102;p13"/>
          <p:cNvPicPr preferRelativeResize="0"/>
          <p:nvPr/>
        </p:nvPicPr>
        <p:blipFill rotWithShape="1">
          <a:blip r:embed="rId4">
            <a:alphaModFix/>
          </a:blip>
          <a:srcRect/>
          <a:stretch/>
        </p:blipFill>
        <p:spPr>
          <a:xfrm>
            <a:off x="1060775" y="4758611"/>
            <a:ext cx="405209" cy="405209"/>
          </a:xfrm>
          <a:prstGeom prst="rect">
            <a:avLst/>
          </a:prstGeom>
          <a:noFill/>
          <a:ln>
            <a:noFill/>
          </a:ln>
        </p:spPr>
      </p:pic>
      <p:pic>
        <p:nvPicPr>
          <p:cNvPr id="103" name="Google Shape;103;p13"/>
          <p:cNvPicPr preferRelativeResize="0"/>
          <p:nvPr/>
        </p:nvPicPr>
        <p:blipFill rotWithShape="1">
          <a:blip r:embed="rId5">
            <a:alphaModFix/>
          </a:blip>
          <a:srcRect/>
          <a:stretch/>
        </p:blipFill>
        <p:spPr>
          <a:xfrm>
            <a:off x="1109779" y="5676372"/>
            <a:ext cx="3172854" cy="376042"/>
          </a:xfrm>
          <a:prstGeom prst="rect">
            <a:avLst/>
          </a:prstGeom>
          <a:noFill/>
          <a:ln>
            <a:noFill/>
          </a:ln>
        </p:spPr>
      </p:pic>
      <p:pic>
        <p:nvPicPr>
          <p:cNvPr id="104" name="Google Shape;104;p13"/>
          <p:cNvPicPr preferRelativeResize="0"/>
          <p:nvPr/>
        </p:nvPicPr>
        <p:blipFill rotWithShape="1">
          <a:blip r:embed="rId6">
            <a:alphaModFix/>
          </a:blip>
          <a:srcRect/>
          <a:stretch/>
        </p:blipFill>
        <p:spPr>
          <a:xfrm>
            <a:off x="944880" y="1041399"/>
            <a:ext cx="4760571" cy="1037560"/>
          </a:xfrm>
          <a:prstGeom prst="rect">
            <a:avLst/>
          </a:prstGeom>
          <a:noFill/>
          <a:ln>
            <a:noFill/>
          </a:ln>
        </p:spPr>
      </p:pic>
      <p:sp>
        <p:nvSpPr>
          <p:cNvPr id="105" name="Google Shape;105;p13"/>
          <p:cNvSpPr txBox="1"/>
          <p:nvPr/>
        </p:nvSpPr>
        <p:spPr>
          <a:xfrm>
            <a:off x="1628774" y="3921043"/>
            <a:ext cx="8460106" cy="36395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0731 3111500, 0731 3111501 </a:t>
            </a:r>
            <a:endParaRPr/>
          </a:p>
        </p:txBody>
      </p:sp>
      <p:sp>
        <p:nvSpPr>
          <p:cNvPr id="106" name="Google Shape;106;p13"/>
          <p:cNvSpPr txBox="1"/>
          <p:nvPr/>
        </p:nvSpPr>
        <p:spPr>
          <a:xfrm>
            <a:off x="1628774" y="4797553"/>
            <a:ext cx="8407400" cy="405209"/>
          </a:xfrm>
          <a:prstGeom prst="rect">
            <a:avLst/>
          </a:prstGeom>
          <a:noFill/>
          <a:ln>
            <a:noFill/>
          </a:ln>
        </p:spPr>
        <p:txBody>
          <a:bodyPr spcFirstLastPara="1" wrap="square" lIns="91425" tIns="45700" rIns="91425" bIns="45700" anchor="t" anchorCtr="0">
            <a:normAutofit lnSpcReduction="10000"/>
          </a:bodyPr>
          <a:lstStyle/>
          <a:p>
            <a:pPr marL="0" marR="0" lvl="0" indent="0" algn="l" rtl="0">
              <a:lnSpc>
                <a:spcPct val="90000"/>
              </a:lnSpc>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www.medicaps.ac.in</a:t>
            </a:r>
            <a:endParaRPr/>
          </a:p>
        </p:txBody>
      </p:sp>
      <p:sp>
        <p:nvSpPr>
          <p:cNvPr id="107" name="Google Shape;107;p13"/>
          <p:cNvSpPr txBox="1"/>
          <p:nvPr/>
        </p:nvSpPr>
        <p:spPr>
          <a:xfrm>
            <a:off x="1628774" y="3030245"/>
            <a:ext cx="8460106" cy="36395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A.B. Road, Pigdamber, Rau, Indore – 453331 </a:t>
            </a:r>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OBJECT">
    <p:spTree>
      <p:nvGrpSpPr>
        <p:cNvPr id="1" name=""/>
        <p:cNvGrpSpPr/>
        <p:nvPr/>
      </p:nvGrpSpPr>
      <p:grpSpPr>
        <a:xfrm>
          <a:off x="0" y="0"/>
          <a:ext cx="0" cy="0"/>
          <a:chOff x="0" y="0"/>
          <a:chExt cx="0" cy="0"/>
        </a:xfrm>
      </p:grpSpPr>
      <p:sp>
        <p:nvSpPr>
          <p:cNvPr id="30" name="Title Text"/>
          <p:cNvSpPr txBox="1">
            <a:spLocks noGrp="1"/>
          </p:cNvSpPr>
          <p:nvPr>
            <p:ph type="title"/>
          </p:nvPr>
        </p:nvSpPr>
        <p:spPr>
          <a:prstGeom prst="rect">
            <a:avLst/>
          </a:prstGeom>
        </p:spPr>
        <p:txBody>
          <a:bodyPr/>
          <a:lstStyle/>
          <a:p>
            <a:r>
              <a:t>Title Text</a:t>
            </a:r>
          </a:p>
        </p:txBody>
      </p:sp>
      <p:sp>
        <p:nvSpPr>
          <p:cNvPr id="3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 name="Slide Number">
            <a:extLst>
              <a:ext uri="{FF2B5EF4-FFF2-40B4-BE49-F238E27FC236}">
                <a16:creationId xmlns:a16="http://schemas.microsoft.com/office/drawing/2014/main" id="{47DA116C-25F9-4D97-6766-D860AE6C32B3}"/>
              </a:ext>
            </a:extLst>
          </p:cNvPr>
          <p:cNvSpPr txBox="1">
            <a:spLocks noGrp="1" noChangeArrowheads="1"/>
          </p:cNvSpPr>
          <p:nvPr>
            <p:ph type="sldNum" sz="quarter" idx="10"/>
          </p:nvPr>
        </p:nvSpPr>
        <p:spPr>
          <a:ln/>
        </p:spPr>
        <p:txBody>
          <a:bodyPr/>
          <a:lstStyle>
            <a:lvl1pPr>
              <a:defRPr/>
            </a:lvl1pPr>
          </a:lstStyle>
          <a:p>
            <a:fld id="{5E26E77A-D480-4BE7-A4B4-6411F80B0438}" type="slidenum">
              <a:rPr lang="en-US" altLang="en-US"/>
              <a:pPr/>
              <a:t>‹#›</a:t>
            </a:fld>
            <a:endParaRPr lang="en-US" altLang="en-US"/>
          </a:p>
        </p:txBody>
      </p:sp>
    </p:spTree>
    <p:extLst>
      <p:ext uri="{BB962C8B-B14F-4D97-AF65-F5344CB8AC3E}">
        <p14:creationId xmlns:p14="http://schemas.microsoft.com/office/powerpoint/2010/main" val="2849420240"/>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4"/>
          <p:cNvSpPr txBox="1">
            <a:spLocks noGrp="1"/>
          </p:cNvSpPr>
          <p:nvPr>
            <p:ph type="ctrTitle"/>
          </p:nvPr>
        </p:nvSpPr>
        <p:spPr>
          <a:xfrm>
            <a:off x="944879" y="2650734"/>
            <a:ext cx="10839579" cy="2128308"/>
          </a:xfrm>
          <a:prstGeom prst="rect">
            <a:avLst/>
          </a:prstGeom>
          <a:noFill/>
          <a:ln>
            <a:noFill/>
          </a:ln>
        </p:spPr>
        <p:txBody>
          <a:bodyPr spcFirstLastPara="1" wrap="square" lIns="91425" tIns="45700" rIns="91425" bIns="45700" anchor="b" anchorCtr="0">
            <a:normAutofit/>
          </a:bodyPr>
          <a:lstStyle/>
          <a:p>
            <a:pPr lvl="0">
              <a:buSzPct val="100000"/>
            </a:pPr>
            <a:r>
              <a:rPr lang="en-US" b="1" dirty="0">
                <a:ea typeface="Calibri" panose="020F0502020204030204" pitchFamily="34" charset="0"/>
                <a:cs typeface="Mangal" panose="02040503050203030202" pitchFamily="18" charset="0"/>
              </a:rPr>
              <a:t>Learning Reflection Platform</a:t>
            </a:r>
            <a:endParaRPr dirty="0"/>
          </a:p>
        </p:txBody>
      </p:sp>
      <p:sp>
        <p:nvSpPr>
          <p:cNvPr id="114" name="Google Shape;114;p14"/>
          <p:cNvSpPr txBox="1">
            <a:spLocks noGrp="1"/>
          </p:cNvSpPr>
          <p:nvPr>
            <p:ph type="subTitle" idx="1"/>
          </p:nvPr>
        </p:nvSpPr>
        <p:spPr>
          <a:xfrm>
            <a:off x="944880" y="5108703"/>
            <a:ext cx="9144000" cy="994145"/>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Clr>
                <a:schemeClr val="lt1"/>
              </a:buClr>
              <a:buSzPts val="3600"/>
              <a:buNone/>
            </a:pPr>
            <a:r>
              <a:rPr lang="en-US" dirty="0"/>
              <a:t>Presentation 2</a:t>
            </a:r>
          </a:p>
          <a:p>
            <a:pPr marL="0" lvl="0" indent="0" algn="l" rtl="0">
              <a:lnSpc>
                <a:spcPct val="90000"/>
              </a:lnSpc>
              <a:spcBef>
                <a:spcPts val="0"/>
              </a:spcBef>
              <a:spcAft>
                <a:spcPts val="0"/>
              </a:spcAft>
              <a:buClr>
                <a:schemeClr val="lt1"/>
              </a:buClr>
              <a:buSzPts val="3600"/>
              <a:buNone/>
            </a:pPr>
            <a:r>
              <a:rPr lang="en-US" dirty="0"/>
              <a:t>Progress Update</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2" name="Google Shape;122;p15"/>
          <p:cNvSpPr txBox="1">
            <a:spLocks noGrp="1"/>
          </p:cNvSpPr>
          <p:nvPr>
            <p:ph type="sldNum" idx="12"/>
          </p:nvPr>
        </p:nvSpPr>
        <p:spPr>
          <a:xfrm>
            <a:off x="11994407" y="173089"/>
            <a:ext cx="539470" cy="365125"/>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
        <p:nvSpPr>
          <p:cNvPr id="120" name="Google Shape;120;p15"/>
          <p:cNvSpPr txBox="1">
            <a:spLocks noGrp="1"/>
          </p:cNvSpPr>
          <p:nvPr>
            <p:ph type="title" idx="4294967295"/>
          </p:nvPr>
        </p:nvSpPr>
        <p:spPr>
          <a:xfrm>
            <a:off x="369870" y="81808"/>
            <a:ext cx="10515600" cy="912812"/>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b="1" dirty="0">
                <a:solidFill>
                  <a:schemeClr val="bg2"/>
                </a:solidFill>
              </a:rPr>
              <a:t>Module Details</a:t>
            </a:r>
            <a:endParaRPr b="1" dirty="0">
              <a:solidFill>
                <a:schemeClr val="bg2"/>
              </a:solidFill>
            </a:endParaRPr>
          </a:p>
        </p:txBody>
      </p:sp>
      <p:sp>
        <p:nvSpPr>
          <p:cNvPr id="121" name="Google Shape;121;p15"/>
          <p:cNvSpPr txBox="1">
            <a:spLocks noGrp="1"/>
          </p:cNvSpPr>
          <p:nvPr>
            <p:ph type="body" idx="4294967295"/>
          </p:nvPr>
        </p:nvSpPr>
        <p:spPr>
          <a:xfrm>
            <a:off x="369870" y="909852"/>
            <a:ext cx="10515600" cy="5673725"/>
          </a:xfrm>
          <a:prstGeom prst="rect">
            <a:avLst/>
          </a:prstGeom>
        </p:spPr>
        <p:txBody>
          <a:bodyPr spcFirstLastPara="1" wrap="square" lIns="91425" tIns="45700" rIns="91425" bIns="45700" anchor="t" anchorCtr="0">
            <a:normAutofit fontScale="70000" lnSpcReduction="20000"/>
          </a:bodyPr>
          <a:lstStyle/>
          <a:p>
            <a:pPr marL="114300" indent="0">
              <a:buNone/>
            </a:pPr>
            <a:r>
              <a:rPr lang="en-US" sz="3300" b="1" dirty="0"/>
              <a:t>Core Learning Data :</a:t>
            </a:r>
          </a:p>
          <a:p>
            <a:pPr marL="114300" indent="0">
              <a:buNone/>
            </a:pPr>
            <a:r>
              <a:rPr lang="en-US" b="1" dirty="0"/>
              <a:t>1. Authentication Module</a:t>
            </a:r>
          </a:p>
          <a:p>
            <a:pPr marL="723900" indent="-457200">
              <a:spcBef>
                <a:spcPts val="500"/>
              </a:spcBef>
              <a:buFont typeface="Arial" panose="020B0604020202020204" pitchFamily="34" charset="0"/>
              <a:buChar char="•"/>
            </a:pPr>
            <a:r>
              <a:rPr lang="en-US" sz="2700" dirty="0"/>
              <a:t>Handles secure user registration and login</a:t>
            </a:r>
          </a:p>
          <a:p>
            <a:pPr marL="723900" indent="-457200">
              <a:spcBef>
                <a:spcPts val="500"/>
              </a:spcBef>
              <a:buFont typeface="Arial" panose="020B0604020202020204" pitchFamily="34" charset="0"/>
              <a:buChar char="•"/>
            </a:pPr>
            <a:r>
              <a:rPr lang="en-US" sz="2700" dirty="0"/>
              <a:t>Validates user credentials before granting access</a:t>
            </a:r>
          </a:p>
          <a:p>
            <a:pPr marL="723900" indent="-457200">
              <a:spcBef>
                <a:spcPts val="500"/>
              </a:spcBef>
              <a:buFont typeface="Arial" panose="020B0604020202020204" pitchFamily="34" charset="0"/>
              <a:buChar char="•"/>
            </a:pPr>
            <a:r>
              <a:rPr lang="en-US" sz="2700" dirty="0"/>
              <a:t>Maintains session-based authentication</a:t>
            </a:r>
          </a:p>
          <a:p>
            <a:pPr marL="723900" indent="-457200">
              <a:spcBef>
                <a:spcPts val="500"/>
              </a:spcBef>
              <a:buFont typeface="Arial" panose="020B0604020202020204" pitchFamily="34" charset="0"/>
              <a:buChar char="•"/>
            </a:pPr>
            <a:r>
              <a:rPr lang="en-US" sz="2700" dirty="0"/>
              <a:t>Prevents unauthorized access to the system</a:t>
            </a:r>
          </a:p>
          <a:p>
            <a:pPr marL="114300" indent="0">
              <a:buNone/>
            </a:pPr>
            <a:r>
              <a:rPr lang="en-US" b="1" dirty="0"/>
              <a:t>2. User Profile Module</a:t>
            </a:r>
          </a:p>
          <a:p>
            <a:pPr marL="627063" indent="-360363">
              <a:spcBef>
                <a:spcPts val="500"/>
              </a:spcBef>
            </a:pPr>
            <a:r>
              <a:rPr lang="en-US" sz="2700" dirty="0"/>
              <a:t>Stores and manages user personal information</a:t>
            </a:r>
          </a:p>
          <a:p>
            <a:pPr marL="627063" indent="-360363">
              <a:spcBef>
                <a:spcPts val="500"/>
              </a:spcBef>
            </a:pPr>
            <a:r>
              <a:rPr lang="en-US" sz="2700" dirty="0"/>
              <a:t>Allows users to view and update profile details</a:t>
            </a:r>
          </a:p>
          <a:p>
            <a:pPr marL="627063" indent="-360363">
              <a:spcBef>
                <a:spcPts val="500"/>
              </a:spcBef>
            </a:pPr>
            <a:r>
              <a:rPr lang="en-US" sz="2700" dirty="0"/>
              <a:t>Maintains user settings and preferences</a:t>
            </a:r>
          </a:p>
          <a:p>
            <a:pPr marL="627063" indent="-360363">
              <a:spcBef>
                <a:spcPts val="500"/>
              </a:spcBef>
            </a:pPr>
            <a:r>
              <a:rPr lang="en-US" sz="2700" dirty="0"/>
              <a:t>Supports a personalized learning experience</a:t>
            </a:r>
          </a:p>
          <a:p>
            <a:pPr marL="93662" indent="0">
              <a:spcBef>
                <a:spcPts val="500"/>
              </a:spcBef>
              <a:buNone/>
            </a:pPr>
            <a:r>
              <a:rPr lang="en-US" b="1" dirty="0"/>
              <a:t>3. Learning Item Management </a:t>
            </a:r>
          </a:p>
          <a:p>
            <a:pPr marL="627063" indent="-360363">
              <a:spcBef>
                <a:spcPts val="500"/>
              </a:spcBef>
            </a:pPr>
            <a:r>
              <a:rPr lang="en-US" sz="2700" dirty="0"/>
              <a:t>Allows users to save learning resources via links</a:t>
            </a:r>
          </a:p>
          <a:p>
            <a:pPr marL="627063" indent="-360363">
              <a:spcBef>
                <a:spcPts val="500"/>
              </a:spcBef>
            </a:pPr>
            <a:r>
              <a:rPr lang="en-US" sz="2700" dirty="0"/>
              <a:t>Supports editing, deleting, and organizing items</a:t>
            </a:r>
          </a:p>
          <a:p>
            <a:pPr marL="627063" indent="-360363">
              <a:spcBef>
                <a:spcPts val="500"/>
              </a:spcBef>
            </a:pPr>
            <a:r>
              <a:rPr lang="en-US" sz="2700" dirty="0"/>
              <a:t>Enables priority tagging for important topics</a:t>
            </a:r>
          </a:p>
          <a:p>
            <a:pPr marL="627063" indent="-360363">
              <a:spcBef>
                <a:spcPts val="500"/>
              </a:spcBef>
            </a:pPr>
            <a:r>
              <a:rPr lang="en-US" sz="2700" dirty="0"/>
              <a:t>Allows setting target readiness dates</a:t>
            </a:r>
          </a:p>
          <a:p>
            <a:pPr marL="114300" indent="0">
              <a:buNone/>
            </a:pPr>
            <a:r>
              <a:rPr lang="en-US" sz="2600" b="1" dirty="0"/>
              <a:t>Purpose:</a:t>
            </a:r>
            <a:br>
              <a:rPr lang="en-US" dirty="0"/>
            </a:br>
            <a:r>
              <a:rPr lang="en-US" dirty="0"/>
              <a:t>These modules form the core system foundation, managing user identity and storing learning resources in an organized structure.</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6E38C2-BBF6-DF14-3E33-8B4978E4E8F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3" name="TextBox 2">
            <a:extLst>
              <a:ext uri="{FF2B5EF4-FFF2-40B4-BE49-F238E27FC236}">
                <a16:creationId xmlns:a16="http://schemas.microsoft.com/office/drawing/2014/main" id="{4182924A-5086-8606-E556-6FC66116A2FD}"/>
              </a:ext>
            </a:extLst>
          </p:cNvPr>
          <p:cNvSpPr txBox="1"/>
          <p:nvPr/>
        </p:nvSpPr>
        <p:spPr>
          <a:xfrm>
            <a:off x="334107" y="872041"/>
            <a:ext cx="11523785" cy="5919569"/>
          </a:xfrm>
          <a:prstGeom prst="rect">
            <a:avLst/>
          </a:prstGeom>
          <a:noFill/>
        </p:spPr>
        <p:txBody>
          <a:bodyPr wrap="square" rtlCol="0">
            <a:spAutoFit/>
          </a:bodyPr>
          <a:lstStyle/>
          <a:p>
            <a:r>
              <a:rPr lang="en-US" sz="2400" b="1" dirty="0"/>
              <a:t>Learning Intelligence &amp; Automation:</a:t>
            </a:r>
          </a:p>
          <a:p>
            <a:pPr>
              <a:spcBef>
                <a:spcPts val="500"/>
              </a:spcBef>
            </a:pPr>
            <a:r>
              <a:rPr lang="en-US" sz="2000" b="1" dirty="0"/>
              <a:t>4. Metadata Extraction Module</a:t>
            </a:r>
          </a:p>
          <a:p>
            <a:pPr marL="534988" indent="-342900">
              <a:lnSpc>
                <a:spcPct val="70000"/>
              </a:lnSpc>
              <a:spcBef>
                <a:spcPts val="500"/>
              </a:spcBef>
              <a:buFont typeface="Arial" panose="020B0604020202020204" pitchFamily="34" charset="0"/>
              <a:buChar char="•"/>
            </a:pPr>
            <a:r>
              <a:rPr lang="en-US" sz="1900" dirty="0"/>
              <a:t>Automatically extracts title and basic metadata from links</a:t>
            </a:r>
          </a:p>
          <a:p>
            <a:pPr marL="534988" indent="-342900">
              <a:lnSpc>
                <a:spcPct val="70000"/>
              </a:lnSpc>
              <a:spcBef>
                <a:spcPts val="500"/>
              </a:spcBef>
              <a:buFont typeface="Arial" panose="020B0604020202020204" pitchFamily="34" charset="0"/>
              <a:buChar char="•"/>
            </a:pPr>
            <a:r>
              <a:rPr lang="en-US" sz="1900" dirty="0"/>
              <a:t>Retrieves H1, H2, H3 headings from supported webpages</a:t>
            </a:r>
          </a:p>
          <a:p>
            <a:pPr marL="534988" indent="-342900">
              <a:lnSpc>
                <a:spcPct val="70000"/>
              </a:lnSpc>
              <a:spcBef>
                <a:spcPts val="500"/>
              </a:spcBef>
              <a:buFont typeface="Arial" panose="020B0604020202020204" pitchFamily="34" charset="0"/>
              <a:buChar char="•"/>
            </a:pPr>
            <a:r>
              <a:rPr lang="en-US" sz="1900" dirty="0"/>
              <a:t>Reduces manual data entry</a:t>
            </a:r>
          </a:p>
          <a:p>
            <a:pPr marL="534988" indent="-342900">
              <a:lnSpc>
                <a:spcPct val="70000"/>
              </a:lnSpc>
              <a:spcBef>
                <a:spcPts val="500"/>
              </a:spcBef>
              <a:buFont typeface="Arial" panose="020B0604020202020204" pitchFamily="34" charset="0"/>
              <a:buChar char="•"/>
            </a:pPr>
            <a:r>
              <a:rPr lang="en-US" sz="1900" dirty="0"/>
              <a:t>Improves content organization</a:t>
            </a:r>
          </a:p>
          <a:p>
            <a:pPr>
              <a:spcBef>
                <a:spcPts val="500"/>
              </a:spcBef>
            </a:pPr>
            <a:r>
              <a:rPr lang="en-US" sz="2000" b="1" dirty="0"/>
              <a:t>5. Reminder &amp; Scheduling Module</a:t>
            </a:r>
          </a:p>
          <a:p>
            <a:pPr marL="534988" indent="-342900">
              <a:lnSpc>
                <a:spcPct val="70000"/>
              </a:lnSpc>
              <a:spcBef>
                <a:spcPts val="500"/>
              </a:spcBef>
              <a:buFont typeface="Arial" panose="020B0604020202020204" pitchFamily="34" charset="0"/>
              <a:buChar char="•"/>
            </a:pPr>
            <a:r>
              <a:rPr lang="en-US" sz="1900" dirty="0"/>
              <a:t>Allows users to set target readiness deadlines</a:t>
            </a:r>
          </a:p>
          <a:p>
            <a:pPr marL="534988" indent="-342900">
              <a:lnSpc>
                <a:spcPct val="70000"/>
              </a:lnSpc>
              <a:spcBef>
                <a:spcPts val="500"/>
              </a:spcBef>
              <a:buFont typeface="Arial" panose="020B0604020202020204" pitchFamily="34" charset="0"/>
              <a:buChar char="•"/>
            </a:pPr>
            <a:r>
              <a:rPr lang="en-US" sz="1900" dirty="0"/>
              <a:t>Generates reminders based on upcoming deadlines</a:t>
            </a:r>
          </a:p>
          <a:p>
            <a:pPr marL="534988" indent="-342900">
              <a:lnSpc>
                <a:spcPct val="70000"/>
              </a:lnSpc>
              <a:spcBef>
                <a:spcPts val="500"/>
              </a:spcBef>
              <a:buFont typeface="Arial" panose="020B0604020202020204" pitchFamily="34" charset="0"/>
              <a:buChar char="•"/>
            </a:pPr>
            <a:r>
              <a:rPr lang="en-US" sz="1900" dirty="0"/>
              <a:t>Displays reminders during user login</a:t>
            </a:r>
          </a:p>
          <a:p>
            <a:pPr marL="534988" indent="-342900">
              <a:lnSpc>
                <a:spcPct val="70000"/>
              </a:lnSpc>
              <a:spcBef>
                <a:spcPts val="500"/>
              </a:spcBef>
              <a:buFont typeface="Arial" panose="020B0604020202020204" pitchFamily="34" charset="0"/>
              <a:buChar char="•"/>
            </a:pPr>
            <a:r>
              <a:rPr lang="en-US" sz="1900" dirty="0"/>
              <a:t>Encourages timely revision of learning items</a:t>
            </a:r>
          </a:p>
          <a:p>
            <a:pPr>
              <a:spcBef>
                <a:spcPts val="500"/>
              </a:spcBef>
            </a:pPr>
            <a:r>
              <a:rPr lang="en-US" sz="2000" b="1" dirty="0"/>
              <a:t>6. Interaction Tracking Module</a:t>
            </a:r>
          </a:p>
          <a:p>
            <a:pPr marL="534988" indent="-342900">
              <a:lnSpc>
                <a:spcPct val="70000"/>
              </a:lnSpc>
              <a:spcBef>
                <a:spcPts val="500"/>
              </a:spcBef>
              <a:buFont typeface="Arial" panose="020B0604020202020204" pitchFamily="34" charset="0"/>
              <a:buChar char="•"/>
            </a:pPr>
            <a:r>
              <a:rPr lang="en-US" sz="1900" dirty="0"/>
              <a:t>Tracks resource access frequency</a:t>
            </a:r>
          </a:p>
          <a:p>
            <a:pPr marL="534988" indent="-342900">
              <a:lnSpc>
                <a:spcPct val="70000"/>
              </a:lnSpc>
              <a:spcBef>
                <a:spcPts val="500"/>
              </a:spcBef>
              <a:buFont typeface="Arial" panose="020B0604020202020204" pitchFamily="34" charset="0"/>
              <a:buChar char="•"/>
            </a:pPr>
            <a:r>
              <a:rPr lang="en-US" sz="1900" dirty="0"/>
              <a:t>Stores last accessed timestamps</a:t>
            </a:r>
          </a:p>
          <a:p>
            <a:pPr marL="534988" indent="-342900">
              <a:lnSpc>
                <a:spcPct val="70000"/>
              </a:lnSpc>
              <a:spcBef>
                <a:spcPts val="500"/>
              </a:spcBef>
              <a:buFont typeface="Arial" panose="020B0604020202020204" pitchFamily="34" charset="0"/>
              <a:buChar char="•"/>
            </a:pPr>
            <a:r>
              <a:rPr lang="en-US" sz="1900" dirty="0"/>
              <a:t>Maintains interaction history</a:t>
            </a:r>
          </a:p>
          <a:p>
            <a:pPr marL="534988" indent="-342900">
              <a:lnSpc>
                <a:spcPct val="70000"/>
              </a:lnSpc>
              <a:spcBef>
                <a:spcPts val="500"/>
              </a:spcBef>
              <a:buFont typeface="Arial" panose="020B0604020202020204" pitchFamily="34" charset="0"/>
              <a:buChar char="•"/>
            </a:pPr>
            <a:r>
              <a:rPr lang="en-US" sz="1900" dirty="0"/>
              <a:t>Identifies unused or rarely accessed resources</a:t>
            </a:r>
          </a:p>
          <a:p>
            <a:pPr>
              <a:spcBef>
                <a:spcPts val="500"/>
              </a:spcBef>
            </a:pPr>
            <a:r>
              <a:rPr lang="en-US" sz="2000" b="1" dirty="0"/>
              <a:t>Purpose:</a:t>
            </a:r>
            <a:br>
              <a:rPr lang="en-US" sz="2000" dirty="0"/>
            </a:br>
            <a:r>
              <a:rPr lang="en-US" sz="1900" dirty="0"/>
              <a:t>These modules introduce automation and learning insights, helping users manage their preparation more efficiently.</a:t>
            </a:r>
          </a:p>
        </p:txBody>
      </p:sp>
      <p:sp>
        <p:nvSpPr>
          <p:cNvPr id="6" name="Google Shape;120;p15">
            <a:extLst>
              <a:ext uri="{FF2B5EF4-FFF2-40B4-BE49-F238E27FC236}">
                <a16:creationId xmlns:a16="http://schemas.microsoft.com/office/drawing/2014/main" id="{EDAD376D-7BFB-8A3D-6627-8AEBF8BE52BC}"/>
              </a:ext>
            </a:extLst>
          </p:cNvPr>
          <p:cNvSpPr txBox="1">
            <a:spLocks/>
          </p:cNvSpPr>
          <p:nvPr/>
        </p:nvSpPr>
        <p:spPr>
          <a:xfrm>
            <a:off x="369870" y="173252"/>
            <a:ext cx="10515600" cy="69878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b="1" dirty="0">
                <a:solidFill>
                  <a:schemeClr val="bg2"/>
                </a:solidFill>
              </a:rPr>
              <a:t>Module Details</a:t>
            </a:r>
          </a:p>
        </p:txBody>
      </p:sp>
    </p:spTree>
    <p:extLst>
      <p:ext uri="{BB962C8B-B14F-4D97-AF65-F5344CB8AC3E}">
        <p14:creationId xmlns:p14="http://schemas.microsoft.com/office/powerpoint/2010/main" val="1948717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69AA80-B2A5-5B31-16B7-8356D8B2031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
        <p:nvSpPr>
          <p:cNvPr id="3" name="TextBox 2">
            <a:extLst>
              <a:ext uri="{FF2B5EF4-FFF2-40B4-BE49-F238E27FC236}">
                <a16:creationId xmlns:a16="http://schemas.microsoft.com/office/drawing/2014/main" id="{545073B4-C886-6429-65A5-4D635D63FE1D}"/>
              </a:ext>
            </a:extLst>
          </p:cNvPr>
          <p:cNvSpPr txBox="1"/>
          <p:nvPr/>
        </p:nvSpPr>
        <p:spPr>
          <a:xfrm>
            <a:off x="422030" y="982534"/>
            <a:ext cx="11347939" cy="5386090"/>
          </a:xfrm>
          <a:prstGeom prst="rect">
            <a:avLst/>
          </a:prstGeom>
          <a:noFill/>
        </p:spPr>
        <p:txBody>
          <a:bodyPr wrap="square" rtlCol="0">
            <a:spAutoFit/>
          </a:bodyPr>
          <a:lstStyle/>
          <a:p>
            <a:r>
              <a:rPr lang="en-US" sz="2400" b="1" dirty="0"/>
              <a:t>Presentation &amp; User Awareness Layer</a:t>
            </a:r>
          </a:p>
          <a:p>
            <a:pPr>
              <a:lnSpc>
                <a:spcPct val="150000"/>
              </a:lnSpc>
            </a:pPr>
            <a:r>
              <a:rPr lang="en-US" sz="2000" b="1" dirty="0"/>
              <a:t>7. Dashboard &amp; Analytics Module</a:t>
            </a:r>
          </a:p>
          <a:p>
            <a:pPr marL="342900" indent="-342900">
              <a:buFont typeface="Arial" panose="020B0604020202020204" pitchFamily="34" charset="0"/>
              <a:buChar char="•"/>
            </a:pPr>
            <a:r>
              <a:rPr lang="en-US" sz="2000" dirty="0"/>
              <a:t>Provides an overview of saved learning items</a:t>
            </a:r>
          </a:p>
          <a:p>
            <a:pPr marL="342900" indent="-342900">
              <a:buFont typeface="Arial" panose="020B0604020202020204" pitchFamily="34" charset="0"/>
              <a:buChar char="•"/>
            </a:pPr>
            <a:r>
              <a:rPr lang="en-US" sz="2000" dirty="0"/>
              <a:t>Displays learning progress and activity statistics</a:t>
            </a:r>
          </a:p>
          <a:p>
            <a:pPr marL="342900" indent="-342900">
              <a:buFont typeface="Arial" panose="020B0604020202020204" pitchFamily="34" charset="0"/>
              <a:buChar char="•"/>
            </a:pPr>
            <a:r>
              <a:rPr lang="en-US" sz="2000" dirty="0"/>
              <a:t>Shows upcoming readiness deadlines</a:t>
            </a:r>
          </a:p>
          <a:p>
            <a:pPr marL="342900" indent="-342900">
              <a:buFont typeface="Arial" panose="020B0604020202020204" pitchFamily="34" charset="0"/>
              <a:buChar char="•"/>
            </a:pPr>
            <a:r>
              <a:rPr lang="en-US" sz="2000" dirty="0"/>
              <a:t>Helps users monitor learning performance</a:t>
            </a:r>
          </a:p>
          <a:p>
            <a:pPr>
              <a:lnSpc>
                <a:spcPct val="150000"/>
              </a:lnSpc>
            </a:pPr>
            <a:r>
              <a:rPr lang="en-US" sz="2000" b="1" dirty="0"/>
              <a:t>8. Notification Module</a:t>
            </a:r>
          </a:p>
          <a:p>
            <a:pPr marL="342900" indent="-342900">
              <a:buFont typeface="Arial" panose="020B0604020202020204" pitchFamily="34" charset="0"/>
              <a:buChar char="•"/>
            </a:pPr>
            <a:r>
              <a:rPr lang="en-US" sz="2000" dirty="0"/>
              <a:t>Displays alerts and reminders</a:t>
            </a:r>
          </a:p>
          <a:p>
            <a:pPr marL="342900" indent="-342900">
              <a:buFont typeface="Arial" panose="020B0604020202020204" pitchFamily="34" charset="0"/>
              <a:buChar char="•"/>
            </a:pPr>
            <a:r>
              <a:rPr lang="en-US" sz="2000" dirty="0"/>
              <a:t>Notifies users about pending learning tasks</a:t>
            </a:r>
          </a:p>
          <a:p>
            <a:pPr marL="342900" indent="-342900">
              <a:buFont typeface="Arial" panose="020B0604020202020204" pitchFamily="34" charset="0"/>
              <a:buChar char="•"/>
            </a:pPr>
            <a:r>
              <a:rPr lang="en-US" sz="2000" dirty="0"/>
              <a:t>Appears during user login</a:t>
            </a:r>
          </a:p>
          <a:p>
            <a:pPr marL="342900" indent="-342900">
              <a:buFont typeface="Arial" panose="020B0604020202020204" pitchFamily="34" charset="0"/>
              <a:buChar char="•"/>
            </a:pPr>
            <a:r>
              <a:rPr lang="en-US" sz="2000" dirty="0"/>
              <a:t>Keeps users informed about important updates</a:t>
            </a:r>
          </a:p>
          <a:p>
            <a:endParaRPr lang="en-US" sz="2000" b="1" dirty="0"/>
          </a:p>
          <a:p>
            <a:r>
              <a:rPr lang="en-US" sz="2000" b="1" dirty="0"/>
              <a:t>Purpose:</a:t>
            </a:r>
            <a:br>
              <a:rPr lang="en-US" sz="2000" dirty="0"/>
            </a:br>
            <a:r>
              <a:rPr lang="en-US" sz="2000" dirty="0"/>
              <a:t>These modules focus on </a:t>
            </a:r>
            <a:r>
              <a:rPr lang="en-US" sz="2000" b="1" dirty="0"/>
              <a:t>information visualization and user awareness</a:t>
            </a:r>
            <a:r>
              <a:rPr lang="en-US" sz="2000" dirty="0"/>
              <a:t>, enabling users to track progress and stay aligned with learning goals.</a:t>
            </a:r>
          </a:p>
          <a:p>
            <a:endParaRPr lang="en-US" sz="2000" dirty="0"/>
          </a:p>
        </p:txBody>
      </p:sp>
      <p:sp>
        <p:nvSpPr>
          <p:cNvPr id="4" name="Google Shape;120;p15">
            <a:extLst>
              <a:ext uri="{FF2B5EF4-FFF2-40B4-BE49-F238E27FC236}">
                <a16:creationId xmlns:a16="http://schemas.microsoft.com/office/drawing/2014/main" id="{AA84B3D6-0B08-B8EC-7F4A-39045DE409A8}"/>
              </a:ext>
            </a:extLst>
          </p:cNvPr>
          <p:cNvSpPr txBox="1">
            <a:spLocks/>
          </p:cNvSpPr>
          <p:nvPr/>
        </p:nvSpPr>
        <p:spPr>
          <a:xfrm>
            <a:off x="369870" y="173252"/>
            <a:ext cx="10515600" cy="698789"/>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b="1" dirty="0">
                <a:solidFill>
                  <a:schemeClr val="bg2"/>
                </a:solidFill>
              </a:rPr>
              <a:t>Module Details</a:t>
            </a:r>
          </a:p>
        </p:txBody>
      </p:sp>
    </p:spTree>
    <p:extLst>
      <p:ext uri="{BB962C8B-B14F-4D97-AF65-F5344CB8AC3E}">
        <p14:creationId xmlns:p14="http://schemas.microsoft.com/office/powerpoint/2010/main" val="4069624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91E09F8-3B5F-DAEF-83B9-C5976A3D8EF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
        <p:nvSpPr>
          <p:cNvPr id="3" name="Title 2">
            <a:extLst>
              <a:ext uri="{FF2B5EF4-FFF2-40B4-BE49-F238E27FC236}">
                <a16:creationId xmlns:a16="http://schemas.microsoft.com/office/drawing/2014/main" id="{EA415366-5E99-01B4-8D97-59E796FE4198}"/>
              </a:ext>
            </a:extLst>
          </p:cNvPr>
          <p:cNvSpPr>
            <a:spLocks noGrp="1"/>
          </p:cNvSpPr>
          <p:nvPr>
            <p:ph type="title" idx="4294967295"/>
          </p:nvPr>
        </p:nvSpPr>
        <p:spPr>
          <a:xfrm>
            <a:off x="409575" y="222087"/>
            <a:ext cx="10515600" cy="1325563"/>
          </a:xfrm>
        </p:spPr>
        <p:txBody>
          <a:bodyPr>
            <a:normAutofit/>
          </a:bodyPr>
          <a:lstStyle/>
          <a:p>
            <a:r>
              <a:rPr lang="en-IN" b="1" dirty="0">
                <a:solidFill>
                  <a:schemeClr val="bg2"/>
                </a:solidFill>
              </a:rPr>
              <a:t>Workflow (Team Progress)</a:t>
            </a:r>
          </a:p>
        </p:txBody>
      </p:sp>
      <p:sp>
        <p:nvSpPr>
          <p:cNvPr id="5" name="Rectangle 1">
            <a:extLst>
              <a:ext uri="{FF2B5EF4-FFF2-40B4-BE49-F238E27FC236}">
                <a16:creationId xmlns:a16="http://schemas.microsoft.com/office/drawing/2014/main" id="{471F4748-3A39-5D3D-119D-E4494128971F}"/>
              </a:ext>
            </a:extLst>
          </p:cNvPr>
          <p:cNvSpPr>
            <a:spLocks noGrp="1" noChangeArrowheads="1"/>
          </p:cNvSpPr>
          <p:nvPr>
            <p:ph type="body" idx="4294967295"/>
          </p:nvPr>
        </p:nvSpPr>
        <p:spPr bwMode="auto">
          <a:xfrm>
            <a:off x="409575" y="1270000"/>
            <a:ext cx="11334750" cy="487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200" dirty="0"/>
              <a:t>The development of the </a:t>
            </a:r>
            <a:r>
              <a:rPr lang="en-US" sz="2200" b="1" dirty="0"/>
              <a:t>Learning Reflection Platform</a:t>
            </a:r>
            <a:r>
              <a:rPr lang="en-US" sz="2200" dirty="0"/>
              <a:t> has progressed through several organized stages as the team planned and prepared the system design.</a:t>
            </a:r>
          </a:p>
          <a:p>
            <a:r>
              <a:rPr lang="en-US" sz="2200" dirty="0"/>
              <a:t>Initially, the team identified a common problem faced by students: educational resources are often saved for later learning but are rarely revisited or properly organized. Based on this observation, the idea of building a platform that helps users manage and revisit unresolved learning resources was proposed.</a:t>
            </a:r>
          </a:p>
          <a:p>
            <a:r>
              <a:rPr lang="en-US" sz="2200" dirty="0"/>
              <a:t>After defining the problem and the objective of the project, the team designed the overall system concept and identified the key features required to support structured learning management. These features were then divided into modules, allowing the system to be developed in a modular and organized manner.</a:t>
            </a:r>
          </a:p>
          <a:p>
            <a:r>
              <a:rPr lang="en-US" sz="2200" dirty="0"/>
              <a:t>The project modules were distributed among the three team members to ensure balanced responsibilities and parallel progress. Each member was assigned specific modules related to different parts of the system, such as user data management, learning intelligence features, and presentation or notification components.</a:t>
            </a:r>
            <a:endParaRPr lang="en-US" sz="2200" dirty="0">
              <a:solidFill>
                <a:schemeClr val="tx1"/>
              </a:solidFill>
              <a:latin typeface="Arial" panose="020B0604020202020204" pitchFamily="34" charset="0"/>
            </a:endParaRPr>
          </a:p>
        </p:txBody>
      </p:sp>
    </p:spTree>
    <p:extLst>
      <p:ext uri="{BB962C8B-B14F-4D97-AF65-F5344CB8AC3E}">
        <p14:creationId xmlns:p14="http://schemas.microsoft.com/office/powerpoint/2010/main" val="37160083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EF675-E25A-1FA8-2249-52FDA0D8D2A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4A3136C-D4A3-8EF4-81AA-62B3DEF0375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
        <p:nvSpPr>
          <p:cNvPr id="3" name="Title 2">
            <a:extLst>
              <a:ext uri="{FF2B5EF4-FFF2-40B4-BE49-F238E27FC236}">
                <a16:creationId xmlns:a16="http://schemas.microsoft.com/office/drawing/2014/main" id="{445F85CB-EC10-8E56-53CF-BA77ABD8A063}"/>
              </a:ext>
            </a:extLst>
          </p:cNvPr>
          <p:cNvSpPr>
            <a:spLocks noGrp="1"/>
          </p:cNvSpPr>
          <p:nvPr>
            <p:ph type="title" idx="4294967295"/>
          </p:nvPr>
        </p:nvSpPr>
        <p:spPr>
          <a:xfrm>
            <a:off x="431514" y="404650"/>
            <a:ext cx="10515600" cy="1010812"/>
          </a:xfrm>
        </p:spPr>
        <p:txBody>
          <a:bodyPr>
            <a:normAutofit/>
          </a:bodyPr>
          <a:lstStyle/>
          <a:p>
            <a:r>
              <a:rPr lang="en-IN" b="1" dirty="0">
                <a:solidFill>
                  <a:schemeClr val="bg2"/>
                </a:solidFill>
              </a:rPr>
              <a:t>Workflow (Team Progress)</a:t>
            </a:r>
          </a:p>
        </p:txBody>
      </p:sp>
      <p:sp>
        <p:nvSpPr>
          <p:cNvPr id="4" name="TextBox 3">
            <a:extLst>
              <a:ext uri="{FF2B5EF4-FFF2-40B4-BE49-F238E27FC236}">
                <a16:creationId xmlns:a16="http://schemas.microsoft.com/office/drawing/2014/main" id="{AA9977D5-C428-8EE3-7F80-10CC2739EF29}"/>
              </a:ext>
            </a:extLst>
          </p:cNvPr>
          <p:cNvSpPr txBox="1"/>
          <p:nvPr/>
        </p:nvSpPr>
        <p:spPr>
          <a:xfrm>
            <a:off x="431514" y="1415462"/>
            <a:ext cx="10515600" cy="4489947"/>
          </a:xfrm>
          <a:prstGeom prst="rect">
            <a:avLst/>
          </a:prstGeom>
          <a:noFill/>
        </p:spPr>
        <p:txBody>
          <a:bodyPr wrap="square" rtlCol="0">
            <a:spAutoFit/>
          </a:bodyPr>
          <a:lstStyle/>
          <a:p>
            <a:pPr marL="457200" indent="-406400">
              <a:lnSpc>
                <a:spcPct val="90000"/>
              </a:lnSpc>
              <a:spcBef>
                <a:spcPts val="1000"/>
              </a:spcBef>
              <a:buClr>
                <a:schemeClr val="dk1"/>
              </a:buClr>
              <a:buSzPts val="2800"/>
              <a:buFont typeface="Arial"/>
              <a:buChar char="•"/>
            </a:pPr>
            <a:r>
              <a:rPr lang="en-US" sz="2300" dirty="0">
                <a:solidFill>
                  <a:schemeClr val="dk1"/>
                </a:solidFill>
              </a:rPr>
              <a:t>Following the module division, the team selected the technology stack for the system. The frontend interface was planned using HTML, CSS, and JavaScript, while the backend technologies such as Node.js, Express.js, and MongoDB were identified for implementing the system logic and database management.</a:t>
            </a:r>
          </a:p>
          <a:p>
            <a:pPr marL="457200" indent="-406400">
              <a:lnSpc>
                <a:spcPct val="90000"/>
              </a:lnSpc>
              <a:spcBef>
                <a:spcPts val="1000"/>
              </a:spcBef>
              <a:buClr>
                <a:schemeClr val="dk1"/>
              </a:buClr>
              <a:buSzPts val="2800"/>
              <a:buFont typeface="Arial"/>
              <a:buChar char="•"/>
            </a:pPr>
            <a:r>
              <a:rPr lang="en-US" sz="2300" dirty="0">
                <a:solidFill>
                  <a:schemeClr val="dk1"/>
                </a:solidFill>
              </a:rPr>
              <a:t>As part of the current development progress, the team has designed the initial interface prototype of the platform. Several interface pages have been created, including the Add Item page, My Items page, Reminders page, and the Dashboard page, which represent the basic structure of the system.</a:t>
            </a:r>
          </a:p>
          <a:p>
            <a:pPr marL="457200" indent="-406400">
              <a:lnSpc>
                <a:spcPct val="90000"/>
              </a:lnSpc>
              <a:spcBef>
                <a:spcPts val="1000"/>
              </a:spcBef>
              <a:buClr>
                <a:schemeClr val="dk1"/>
              </a:buClr>
              <a:buSzPts val="2800"/>
              <a:buFont typeface="Arial"/>
              <a:buChar char="•"/>
            </a:pPr>
            <a:r>
              <a:rPr lang="en-US" sz="2300" dirty="0">
                <a:solidFill>
                  <a:schemeClr val="dk1"/>
                </a:solidFill>
              </a:rPr>
              <a:t>At this stage, the project has completed the conceptual planning, module division, technology selection, basic interface design, and system modeling. The next phase will involve implementing backend functionalities and integrating the different modules of the platform.</a:t>
            </a:r>
          </a:p>
        </p:txBody>
      </p:sp>
    </p:spTree>
    <p:extLst>
      <p:ext uri="{BB962C8B-B14F-4D97-AF65-F5344CB8AC3E}">
        <p14:creationId xmlns:p14="http://schemas.microsoft.com/office/powerpoint/2010/main" val="2577993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B6F772-ED25-7285-6177-A485881118B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3" name="TextBox 2">
            <a:extLst>
              <a:ext uri="{FF2B5EF4-FFF2-40B4-BE49-F238E27FC236}">
                <a16:creationId xmlns:a16="http://schemas.microsoft.com/office/drawing/2014/main" id="{32784370-E37B-EEBF-23BD-A12432E5FB23}"/>
              </a:ext>
            </a:extLst>
          </p:cNvPr>
          <p:cNvSpPr txBox="1"/>
          <p:nvPr/>
        </p:nvSpPr>
        <p:spPr>
          <a:xfrm>
            <a:off x="140677" y="1047570"/>
            <a:ext cx="11483860" cy="5386090"/>
          </a:xfrm>
          <a:prstGeom prst="rect">
            <a:avLst/>
          </a:prstGeom>
          <a:noFill/>
        </p:spPr>
        <p:txBody>
          <a:bodyPr wrap="square" rtlCol="0">
            <a:spAutoFit/>
          </a:bodyPr>
          <a:lstStyle/>
          <a:p>
            <a:pPr marL="360363" indent="-360363"/>
            <a:r>
              <a:rPr lang="en-US" sz="2400" b="1" dirty="0"/>
              <a:t>Objective</a:t>
            </a:r>
          </a:p>
          <a:p>
            <a:pPr marL="360363"/>
            <a:r>
              <a:rPr lang="en-US" sz="2400" dirty="0"/>
              <a:t>A basic frontend prototype has been developed to demonstrate the platform’s user interface and navigation for managing learning resources.</a:t>
            </a:r>
          </a:p>
          <a:p>
            <a:pPr marL="627063" indent="-342900"/>
            <a:endParaRPr lang="en-US" sz="2400" dirty="0"/>
          </a:p>
          <a:p>
            <a:pPr marL="627063" indent="-342900"/>
            <a:r>
              <a:rPr lang="en-US" sz="2800" b="1" dirty="0"/>
              <a:t>Technologies Used</a:t>
            </a:r>
          </a:p>
          <a:p>
            <a:pPr marL="627063" indent="-342900"/>
            <a:r>
              <a:rPr lang="en-US" sz="2400" b="1" dirty="0"/>
              <a:t>HTML5</a:t>
            </a:r>
            <a:r>
              <a:rPr lang="en-US" sz="2400" dirty="0"/>
              <a:t> – Creates the structure of web pages</a:t>
            </a:r>
          </a:p>
          <a:p>
            <a:pPr marL="627063" indent="-342900"/>
            <a:r>
              <a:rPr lang="en-US" sz="2400" b="1" dirty="0"/>
              <a:t>CSS3</a:t>
            </a:r>
            <a:r>
              <a:rPr lang="en-US" sz="2400" dirty="0"/>
              <a:t> – Designs the layout and visual appearance</a:t>
            </a:r>
          </a:p>
          <a:p>
            <a:pPr marL="627063" indent="-342900"/>
            <a:endParaRPr lang="en-US" sz="2400" dirty="0"/>
          </a:p>
          <a:p>
            <a:pPr marL="627063" indent="-342900"/>
            <a:r>
              <a:rPr lang="en-US" sz="2800" b="1" dirty="0"/>
              <a:t>Interface Pages Developed</a:t>
            </a:r>
          </a:p>
          <a:p>
            <a:r>
              <a:rPr lang="en-US" sz="2400" b="1" dirty="0"/>
              <a:t>1. Dashboard Page</a:t>
            </a:r>
            <a:endParaRPr lang="en-US" sz="2400" dirty="0"/>
          </a:p>
          <a:p>
            <a:pPr marL="342900" indent="-342900">
              <a:buFont typeface="Arial" panose="020B0604020202020204" pitchFamily="34" charset="0"/>
              <a:buChar char="•"/>
            </a:pPr>
            <a:r>
              <a:rPr lang="en-US" sz="2400" dirty="0"/>
              <a:t>Displays an overview of the user’s learning activity</a:t>
            </a:r>
          </a:p>
          <a:p>
            <a:pPr marL="342900" indent="-342900">
              <a:buFont typeface="Arial" panose="020B0604020202020204" pitchFamily="34" charset="0"/>
              <a:buChar char="•"/>
            </a:pPr>
            <a:r>
              <a:rPr lang="en-US" sz="2400" dirty="0"/>
              <a:t>Provides a summary of saved learning items and their learning status</a:t>
            </a:r>
          </a:p>
          <a:p>
            <a:pPr marL="342900" indent="-342900">
              <a:buFont typeface="Arial" panose="020B0604020202020204" pitchFamily="34" charset="0"/>
              <a:buChar char="•"/>
            </a:pPr>
            <a:r>
              <a:rPr lang="en-US" sz="2400" dirty="0"/>
              <a:t>Designed to help users quickly understand their learning progress and access important sections of the platform</a:t>
            </a:r>
          </a:p>
        </p:txBody>
      </p:sp>
      <p:sp>
        <p:nvSpPr>
          <p:cNvPr id="4" name="Google Shape;120;p15">
            <a:extLst>
              <a:ext uri="{FF2B5EF4-FFF2-40B4-BE49-F238E27FC236}">
                <a16:creationId xmlns:a16="http://schemas.microsoft.com/office/drawing/2014/main" id="{22E966D1-27F1-E913-F28F-E8C7F3E83D80}"/>
              </a:ext>
            </a:extLst>
          </p:cNvPr>
          <p:cNvSpPr txBox="1">
            <a:spLocks/>
          </p:cNvSpPr>
          <p:nvPr/>
        </p:nvSpPr>
        <p:spPr>
          <a:xfrm>
            <a:off x="369870" y="81808"/>
            <a:ext cx="10515600" cy="912812"/>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b="1" dirty="0">
                <a:solidFill>
                  <a:schemeClr val="bg2"/>
                </a:solidFill>
              </a:rPr>
              <a:t>Prepared Frontend (Current Prototype)</a:t>
            </a:r>
          </a:p>
        </p:txBody>
      </p:sp>
    </p:spTree>
    <p:extLst>
      <p:ext uri="{BB962C8B-B14F-4D97-AF65-F5344CB8AC3E}">
        <p14:creationId xmlns:p14="http://schemas.microsoft.com/office/powerpoint/2010/main" val="4103328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A3126C-9425-C148-3C42-3DE97FE4009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3" name="TextBox 2">
            <a:extLst>
              <a:ext uri="{FF2B5EF4-FFF2-40B4-BE49-F238E27FC236}">
                <a16:creationId xmlns:a16="http://schemas.microsoft.com/office/drawing/2014/main" id="{5E61EFEB-0BD3-5297-924C-A44E623D1EC2}"/>
              </a:ext>
            </a:extLst>
          </p:cNvPr>
          <p:cNvSpPr txBox="1"/>
          <p:nvPr/>
        </p:nvSpPr>
        <p:spPr>
          <a:xfrm>
            <a:off x="268313" y="343540"/>
            <a:ext cx="11448691" cy="6170920"/>
          </a:xfrm>
          <a:prstGeom prst="rect">
            <a:avLst/>
          </a:prstGeom>
          <a:noFill/>
        </p:spPr>
        <p:txBody>
          <a:bodyPr wrap="square" rtlCol="0">
            <a:spAutoFit/>
          </a:bodyPr>
          <a:lstStyle/>
          <a:p>
            <a:r>
              <a:rPr lang="en-US" sz="2200" b="1" dirty="0"/>
              <a:t>2. Add Item Page</a:t>
            </a:r>
          </a:p>
          <a:p>
            <a:pPr marL="360363" indent="-360363">
              <a:buFont typeface="Arial" panose="020B0604020202020204" pitchFamily="34" charset="0"/>
              <a:buChar char="•"/>
            </a:pPr>
            <a:r>
              <a:rPr lang="en-US" sz="2000" dirty="0"/>
              <a:t>Allows users to add new learning resources</a:t>
            </a:r>
          </a:p>
          <a:p>
            <a:pPr marL="360363" indent="-360363">
              <a:buFont typeface="Arial" panose="020B0604020202020204" pitchFamily="34" charset="0"/>
              <a:buChar char="•"/>
            </a:pPr>
            <a:r>
              <a:rPr lang="en-US" sz="2000" dirty="0"/>
              <a:t>Provides a form to paste learning links</a:t>
            </a:r>
          </a:p>
          <a:p>
            <a:pPr marL="360363" indent="-360363">
              <a:buFont typeface="Arial" panose="020B0604020202020204" pitchFamily="34" charset="0"/>
              <a:buChar char="•"/>
            </a:pPr>
            <a:r>
              <a:rPr lang="en-US" sz="2000" dirty="0"/>
              <a:t>Collects information related to learning items</a:t>
            </a:r>
          </a:p>
          <a:p>
            <a:r>
              <a:rPr lang="en-US" sz="2200" b="1" dirty="0"/>
              <a:t>3. My Items Page</a:t>
            </a:r>
          </a:p>
          <a:p>
            <a:pPr marL="360363" indent="-360363">
              <a:buFont typeface="Arial" panose="020B0604020202020204" pitchFamily="34" charset="0"/>
              <a:buChar char="•"/>
            </a:pPr>
            <a:r>
              <a:rPr lang="en-US" sz="2000" dirty="0"/>
              <a:t>Displays saved learning resources</a:t>
            </a:r>
          </a:p>
          <a:p>
            <a:pPr marL="360363" indent="-360363">
              <a:buFont typeface="Arial" panose="020B0604020202020204" pitchFamily="34" charset="0"/>
              <a:buChar char="•"/>
            </a:pPr>
            <a:r>
              <a:rPr lang="en-US" sz="2000" dirty="0"/>
              <a:t>Organizes items for easy access and tracking</a:t>
            </a:r>
          </a:p>
          <a:p>
            <a:r>
              <a:rPr lang="en-US" sz="2200" b="1" dirty="0"/>
              <a:t>4. Reminders Page</a:t>
            </a:r>
          </a:p>
          <a:p>
            <a:pPr marL="360363" indent="-360363">
              <a:buFont typeface="Arial" panose="020B0604020202020204" pitchFamily="34" charset="0"/>
              <a:buChar char="•"/>
            </a:pPr>
            <a:r>
              <a:rPr lang="en-US" sz="2000" dirty="0"/>
              <a:t>Displays learning items that need revision</a:t>
            </a:r>
          </a:p>
          <a:p>
            <a:pPr marL="360363" indent="-360363">
              <a:buFont typeface="Arial" panose="020B0604020202020204" pitchFamily="34" charset="0"/>
              <a:buChar char="•"/>
            </a:pPr>
            <a:r>
              <a:rPr lang="en-US" sz="2000" dirty="0"/>
              <a:t>Shows upcoming reminders</a:t>
            </a:r>
          </a:p>
          <a:p>
            <a:r>
              <a:rPr lang="en-US" sz="2200" b="1" dirty="0"/>
              <a:t>5. Profile Page</a:t>
            </a:r>
          </a:p>
          <a:p>
            <a:pPr marL="360363" indent="-360363">
              <a:buFont typeface="Arial" panose="020B0604020202020204" pitchFamily="34" charset="0"/>
              <a:buChar char="•"/>
            </a:pPr>
            <a:r>
              <a:rPr lang="en-US" sz="2000" dirty="0"/>
              <a:t>Displays user profile information</a:t>
            </a:r>
          </a:p>
          <a:p>
            <a:pPr marL="360363" indent="-360363">
              <a:buFont typeface="Arial" panose="020B0604020202020204" pitchFamily="34" charset="0"/>
              <a:buChar char="•"/>
            </a:pPr>
            <a:r>
              <a:rPr lang="en-US" sz="2000" dirty="0"/>
              <a:t>Provides layout for managing user details</a:t>
            </a:r>
          </a:p>
          <a:p>
            <a:endParaRPr lang="en-US" sz="2400" dirty="0"/>
          </a:p>
          <a:p>
            <a:r>
              <a:rPr lang="en-US" sz="2200" b="1" dirty="0"/>
              <a:t>Interface Design Features</a:t>
            </a:r>
          </a:p>
          <a:p>
            <a:pPr marL="342900" indent="-342900">
              <a:buFont typeface="Arial" panose="020B0604020202020204" pitchFamily="34" charset="0"/>
              <a:buChar char="•"/>
            </a:pPr>
            <a:r>
              <a:rPr lang="en-US" sz="2000" dirty="0"/>
              <a:t>Simple and clean layout</a:t>
            </a:r>
          </a:p>
          <a:p>
            <a:pPr marL="342900" indent="-342900">
              <a:buFont typeface="Arial" panose="020B0604020202020204" pitchFamily="34" charset="0"/>
              <a:buChar char="•"/>
            </a:pPr>
            <a:r>
              <a:rPr lang="en-US" sz="2000" dirty="0"/>
              <a:t>Easy navigation between pages</a:t>
            </a:r>
          </a:p>
          <a:p>
            <a:pPr marL="342900" indent="-342900">
              <a:buFont typeface="Arial" panose="020B0604020202020204" pitchFamily="34" charset="0"/>
              <a:buChar char="•"/>
            </a:pPr>
            <a:r>
              <a:rPr lang="en-US" sz="2000" dirty="0"/>
              <a:t>Structured organization of learning resources</a:t>
            </a:r>
          </a:p>
          <a:p>
            <a:pPr marL="342900" indent="-342900">
              <a:buFont typeface="Arial" panose="020B0604020202020204" pitchFamily="34" charset="0"/>
              <a:buChar char="•"/>
            </a:pPr>
            <a:r>
              <a:rPr lang="en-US" sz="2000" dirty="0"/>
              <a:t>Designed for future backend integration</a:t>
            </a:r>
          </a:p>
        </p:txBody>
      </p:sp>
    </p:spTree>
    <p:extLst>
      <p:ext uri="{BB962C8B-B14F-4D97-AF65-F5344CB8AC3E}">
        <p14:creationId xmlns:p14="http://schemas.microsoft.com/office/powerpoint/2010/main" val="30949955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BB7DBD-0463-31C3-1AE5-D9DCFFF4ABC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pic>
        <p:nvPicPr>
          <p:cNvPr id="4" name="Picture 3">
            <a:extLst>
              <a:ext uri="{FF2B5EF4-FFF2-40B4-BE49-F238E27FC236}">
                <a16:creationId xmlns:a16="http://schemas.microsoft.com/office/drawing/2014/main" id="{4E5499EF-F2C0-63F0-A855-71955B7B777B}"/>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68363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C0C858-7DA3-BFEB-E9D0-B854DC59DDB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pic>
        <p:nvPicPr>
          <p:cNvPr id="4" name="Picture 3">
            <a:extLst>
              <a:ext uri="{FF2B5EF4-FFF2-40B4-BE49-F238E27FC236}">
                <a16:creationId xmlns:a16="http://schemas.microsoft.com/office/drawing/2014/main" id="{BEF36684-D763-B109-028F-48C2170F7AA9}"/>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609028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16998C-B58A-DCC2-2B10-E6184425198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pic>
        <p:nvPicPr>
          <p:cNvPr id="4" name="Picture 3">
            <a:extLst>
              <a:ext uri="{FF2B5EF4-FFF2-40B4-BE49-F238E27FC236}">
                <a16:creationId xmlns:a16="http://schemas.microsoft.com/office/drawing/2014/main" id="{1E308D1A-C7EB-DEEA-0CDF-293D56EB8CEE}"/>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178769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E86738-A415-90E3-00B1-AF6E97964A7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pic>
        <p:nvPicPr>
          <p:cNvPr id="4" name="Picture 3">
            <a:extLst>
              <a:ext uri="{FF2B5EF4-FFF2-40B4-BE49-F238E27FC236}">
                <a16:creationId xmlns:a16="http://schemas.microsoft.com/office/drawing/2014/main" id="{D1B14D33-5F60-5581-5E99-B17EA173F9F6}"/>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92524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0CA3952-BFB1-083B-33AA-A71E9398AFE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pic>
        <p:nvPicPr>
          <p:cNvPr id="4" name="Picture 3">
            <a:extLst>
              <a:ext uri="{FF2B5EF4-FFF2-40B4-BE49-F238E27FC236}">
                <a16:creationId xmlns:a16="http://schemas.microsoft.com/office/drawing/2014/main" id="{F10205D3-6A0A-89D5-41A4-D358FD60564F}"/>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194119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Google Shape;112;p14">
            <a:extLst>
              <a:ext uri="{FF2B5EF4-FFF2-40B4-BE49-F238E27FC236}">
                <a16:creationId xmlns:a16="http://schemas.microsoft.com/office/drawing/2014/main" id="{005FA44C-3AAC-4ECC-6DD8-7C4D5AB07BB4}"/>
              </a:ext>
            </a:extLst>
          </p:cNvPr>
          <p:cNvSpPr txBox="1">
            <a:spLocks noGrp="1"/>
          </p:cNvSpPr>
          <p:nvPr>
            <p:ph type="title"/>
          </p:nvPr>
        </p:nvSpPr>
        <p:spPr>
          <a:xfrm>
            <a:off x="838200" y="220663"/>
            <a:ext cx="10515600" cy="611187"/>
          </a:xfrm>
        </p:spPr>
        <p:txBody>
          <a:bodyPr>
            <a:normAutofit/>
          </a:bodyPr>
          <a:lstStyle>
            <a:lvl1pPr defTabSz="886968">
              <a:defRPr sz="3686"/>
            </a:lvl1pPr>
          </a:lstStyle>
          <a:p>
            <a:pPr eaLnBrk="1" fontAlgn="auto" hangingPunct="1">
              <a:spcBef>
                <a:spcPts val="0"/>
              </a:spcBef>
              <a:spcAft>
                <a:spcPts val="0"/>
              </a:spcAft>
              <a:defRPr/>
            </a:pPr>
            <a:r>
              <a:rPr dirty="0">
                <a:sym typeface="Arial"/>
              </a:rPr>
              <a:t>System model</a:t>
            </a:r>
          </a:p>
        </p:txBody>
      </p:sp>
      <p:sp>
        <p:nvSpPr>
          <p:cNvPr id="14339" name="Google Shape;113;p14">
            <a:extLst>
              <a:ext uri="{FF2B5EF4-FFF2-40B4-BE49-F238E27FC236}">
                <a16:creationId xmlns:a16="http://schemas.microsoft.com/office/drawing/2014/main" id="{B4FF6D5D-4207-A60C-CEA4-15AB9FA535F0}"/>
              </a:ext>
            </a:extLst>
          </p:cNvPr>
          <p:cNvSpPr txBox="1">
            <a:spLocks noGrp="1" noChangeArrowheads="1"/>
          </p:cNvSpPr>
          <p:nvPr>
            <p:ph type="body" idx="1"/>
          </p:nvPr>
        </p:nvSpPr>
        <p:spPr>
          <a:xfrm>
            <a:off x="838200" y="1033463"/>
            <a:ext cx="10515600" cy="5143500"/>
          </a:xfrm>
        </p:spPr>
        <p:txBody>
          <a:bodyPr/>
          <a:lstStyle/>
          <a:p>
            <a:pPr marL="0" indent="0" eaLnBrk="1" hangingPunct="1">
              <a:lnSpc>
                <a:spcPct val="70000"/>
              </a:lnSpc>
              <a:buSzTx/>
              <a:buFont typeface="Arial" panose="020B0604020202020204" pitchFamily="34" charset="0"/>
              <a:buNone/>
            </a:pPr>
            <a:r>
              <a:rPr lang="en-US" altLang="en-US" sz="2000" b="1" dirty="0"/>
              <a:t>1. User (Actor):</a:t>
            </a:r>
          </a:p>
          <a:p>
            <a:pPr marL="285750" indent="-285750">
              <a:lnSpc>
                <a:spcPct val="70000"/>
              </a:lnSpc>
              <a:buSzTx/>
            </a:pPr>
            <a:r>
              <a:rPr lang="en-US" altLang="en-US" sz="1800" dirty="0"/>
              <a:t>The student/user interacts with the platform through the web interface.</a:t>
            </a:r>
          </a:p>
          <a:p>
            <a:pPr marL="285750" indent="-285750">
              <a:lnSpc>
                <a:spcPct val="70000"/>
              </a:lnSpc>
              <a:buSzTx/>
            </a:pPr>
            <a:r>
              <a:rPr lang="en-US" altLang="en-US" sz="1800" dirty="0"/>
              <a:t>Users can perform actions such as:</a:t>
            </a:r>
          </a:p>
          <a:p>
            <a:pPr marL="285750" indent="-285750">
              <a:lnSpc>
                <a:spcPct val="70000"/>
              </a:lnSpc>
              <a:buSzTx/>
            </a:pPr>
            <a:r>
              <a:rPr lang="en-US" altLang="en-US" sz="1800" dirty="0"/>
              <a:t>Adding learning items</a:t>
            </a:r>
          </a:p>
          <a:p>
            <a:pPr marL="285750" indent="-285750">
              <a:lnSpc>
                <a:spcPct val="70000"/>
              </a:lnSpc>
              <a:buSzTx/>
            </a:pPr>
            <a:r>
              <a:rPr lang="en-US" altLang="en-US" sz="1800" dirty="0"/>
              <a:t>Viewing saved items</a:t>
            </a:r>
          </a:p>
          <a:p>
            <a:pPr marL="285750" indent="-285750">
              <a:lnSpc>
                <a:spcPct val="70000"/>
              </a:lnSpc>
              <a:buSzTx/>
            </a:pPr>
            <a:r>
              <a:rPr lang="en-US" altLang="en-US" sz="1800" dirty="0"/>
              <a:t>Checking reminders</a:t>
            </a:r>
          </a:p>
          <a:p>
            <a:pPr marL="285750" indent="-285750">
              <a:lnSpc>
                <a:spcPct val="70000"/>
              </a:lnSpc>
              <a:buSzTx/>
            </a:pPr>
            <a:r>
              <a:rPr lang="en-US" altLang="en-US" sz="1800" dirty="0"/>
              <a:t>Managing profile details</a:t>
            </a:r>
          </a:p>
          <a:p>
            <a:pPr marL="0" indent="0" eaLnBrk="1" hangingPunct="1">
              <a:lnSpc>
                <a:spcPct val="70000"/>
              </a:lnSpc>
              <a:buSzTx/>
              <a:buFont typeface="Arial" panose="020B0604020202020204" pitchFamily="34" charset="0"/>
              <a:buNone/>
            </a:pPr>
            <a:r>
              <a:rPr lang="en-US" altLang="en-US" sz="2000" b="1" dirty="0"/>
              <a:t>2. Frontend Layer (User Interface):</a:t>
            </a:r>
          </a:p>
          <a:p>
            <a:pPr marL="0" indent="0" eaLnBrk="1" hangingPunct="1">
              <a:lnSpc>
                <a:spcPct val="70000"/>
              </a:lnSpc>
              <a:buSzTx/>
              <a:buFont typeface="Arial" panose="020B0604020202020204" pitchFamily="34" charset="0"/>
              <a:buNone/>
            </a:pPr>
            <a:r>
              <a:rPr lang="en-US" altLang="en-US" sz="1800" b="1" dirty="0"/>
              <a:t>Technologies used</a:t>
            </a:r>
            <a:r>
              <a:rPr lang="en-US" altLang="en-US" sz="1800" dirty="0"/>
              <a:t>: HTML and CSS</a:t>
            </a:r>
          </a:p>
          <a:p>
            <a:pPr marL="0" indent="0">
              <a:lnSpc>
                <a:spcPct val="70000"/>
              </a:lnSpc>
              <a:buSzTx/>
              <a:buNone/>
            </a:pPr>
            <a:r>
              <a:rPr lang="en-US" altLang="en-US" sz="1800" dirty="0"/>
              <a:t>This layer provides the visual interface through which users interact with the system.</a:t>
            </a:r>
          </a:p>
          <a:p>
            <a:pPr marL="0" indent="0">
              <a:lnSpc>
                <a:spcPct val="70000"/>
              </a:lnSpc>
              <a:buSzTx/>
              <a:buNone/>
            </a:pPr>
            <a:r>
              <a:rPr lang="en-US" altLang="en-US" sz="1800" dirty="0"/>
              <a:t>Current pages developed:</a:t>
            </a:r>
          </a:p>
          <a:p>
            <a:pPr marL="285750" indent="-285750">
              <a:lnSpc>
                <a:spcPct val="70000"/>
              </a:lnSpc>
              <a:buSzTx/>
            </a:pPr>
            <a:r>
              <a:rPr lang="en-US" altLang="en-US" sz="1800" dirty="0"/>
              <a:t>Add Item Page – Interface to add learning resource links</a:t>
            </a:r>
          </a:p>
          <a:p>
            <a:pPr marL="285750" indent="-285750">
              <a:lnSpc>
                <a:spcPct val="70000"/>
              </a:lnSpc>
              <a:buSzTx/>
            </a:pPr>
            <a:r>
              <a:rPr lang="en-US" altLang="en-US" sz="1800" dirty="0"/>
              <a:t>My Items Page – Displays saved learning resources</a:t>
            </a:r>
          </a:p>
          <a:p>
            <a:pPr marL="285750" indent="-285750">
              <a:lnSpc>
                <a:spcPct val="70000"/>
              </a:lnSpc>
              <a:buSzTx/>
            </a:pPr>
            <a:r>
              <a:rPr lang="en-US" altLang="en-US" sz="1800" dirty="0"/>
              <a:t>Reminders Page – Shows reminders for learning items</a:t>
            </a:r>
          </a:p>
        </p:txBody>
      </p:sp>
      <p:sp>
        <p:nvSpPr>
          <p:cNvPr id="14340" name="Google Shape;114;p14">
            <a:extLst>
              <a:ext uri="{FF2B5EF4-FFF2-40B4-BE49-F238E27FC236}">
                <a16:creationId xmlns:a16="http://schemas.microsoft.com/office/drawing/2014/main" id="{AC8C255B-2D09-9219-9FFC-C9C4B835993D}"/>
              </a:ext>
            </a:extLst>
          </p:cNvPr>
          <p:cNvSpPr>
            <a:spLocks noGrp="1" noChangeArrowheads="1"/>
          </p:cNvSpPr>
          <p:nvPr>
            <p:ph type="sldNum" sz="quarter" idx="10"/>
          </p:nvPr>
        </p:nvSpPr>
        <p:spPr>
          <a:xfrm>
            <a:off x="11974513" y="90488"/>
            <a:ext cx="188912" cy="263525"/>
          </a:xfrm>
          <a:noFill/>
        </p:spPr>
        <p:txBody>
          <a:bodyPr/>
          <a:lstStyle/>
          <a:p>
            <a:fld id="{DF95E018-394C-47A9-BD47-808B13D946D5}" type="slidenum">
              <a:rPr lang="en-US" altLang="en-US"/>
              <a:pPr/>
              <a:t>14</a:t>
            </a:fld>
            <a:endParaRPr lang="en-US" altLang="en-US"/>
          </a:p>
        </p:txBody>
      </p:sp>
      <p:sp>
        <p:nvSpPr>
          <p:cNvPr id="14341" name="Google Shape;115;p14">
            <a:extLst>
              <a:ext uri="{FF2B5EF4-FFF2-40B4-BE49-F238E27FC236}">
                <a16:creationId xmlns:a16="http://schemas.microsoft.com/office/drawing/2014/main" id="{8804E9EA-1B8A-F20A-E01A-17966EAA1865}"/>
              </a:ext>
            </a:extLst>
          </p:cNvPr>
          <p:cNvSpPr>
            <a:spLocks noChangeShapeType="1"/>
          </p:cNvSpPr>
          <p:nvPr/>
        </p:nvSpPr>
        <p:spPr bwMode="auto">
          <a:xfrm>
            <a:off x="838200" y="933450"/>
            <a:ext cx="3497263" cy="0"/>
          </a:xfrm>
          <a:prstGeom prst="line">
            <a:avLst/>
          </a:prstGeom>
          <a:noFill/>
          <a:ln w="57150">
            <a:solidFill>
              <a:srgbClr val="293786"/>
            </a:solidFill>
            <a:miter lim="800000"/>
            <a:headEnd/>
            <a:tailEnd/>
          </a:ln>
          <a:extLst>
            <a:ext uri="{909E8E84-426E-40DD-AFC4-6F175D3DCCD1}">
              <a14:hiddenFill xmlns:a14="http://schemas.microsoft.com/office/drawing/2010/main">
                <a:noFill/>
              </a14:hiddenFill>
            </a:ext>
          </a:extLst>
        </p:spPr>
        <p:txBody>
          <a:bodyPr lIns="0" tIns="0" rIns="0" bIns="0"/>
          <a:lstStyle/>
          <a:p>
            <a:endParaRPr lang="en-IN"/>
          </a:p>
        </p:txBody>
      </p:sp>
      <p:sp>
        <p:nvSpPr>
          <p:cNvPr id="14342" name="Google Shape;116;p14">
            <a:extLst>
              <a:ext uri="{FF2B5EF4-FFF2-40B4-BE49-F238E27FC236}">
                <a16:creationId xmlns:a16="http://schemas.microsoft.com/office/drawing/2014/main" id="{B2FD7055-C0F1-5525-4F34-E036A9CF3732}"/>
              </a:ext>
            </a:extLst>
          </p:cNvPr>
          <p:cNvSpPr>
            <a:spLocks noChangeShapeType="1"/>
          </p:cNvSpPr>
          <p:nvPr/>
        </p:nvSpPr>
        <p:spPr bwMode="auto">
          <a:xfrm>
            <a:off x="4335463" y="933450"/>
            <a:ext cx="2760662" cy="0"/>
          </a:xfrm>
          <a:prstGeom prst="line">
            <a:avLst/>
          </a:prstGeom>
          <a:noFill/>
          <a:ln w="57150">
            <a:solidFill>
              <a:srgbClr val="A21D2E"/>
            </a:solidFill>
            <a:miter lim="800000"/>
            <a:headEnd/>
            <a:tailEnd/>
          </a:ln>
          <a:extLst>
            <a:ext uri="{909E8E84-426E-40DD-AFC4-6F175D3DCCD1}">
              <a14:hiddenFill xmlns:a14="http://schemas.microsoft.com/office/drawing/2010/main">
                <a:noFill/>
              </a14:hiddenFill>
            </a:ext>
          </a:extLst>
        </p:spPr>
        <p:txBody>
          <a:bodyPr lIns="0" tIns="0" rIns="0" bIns="0"/>
          <a:lstStyle/>
          <a:p>
            <a:endParaRPr lang="en-IN"/>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Google Shape;122;p15">
            <a:extLst>
              <a:ext uri="{FF2B5EF4-FFF2-40B4-BE49-F238E27FC236}">
                <a16:creationId xmlns:a16="http://schemas.microsoft.com/office/drawing/2014/main" id="{A683595F-7C94-D4D4-9006-3A8171F14AB4}"/>
              </a:ext>
            </a:extLst>
          </p:cNvPr>
          <p:cNvSpPr txBox="1">
            <a:spLocks noGrp="1" noChangeArrowheads="1"/>
          </p:cNvSpPr>
          <p:nvPr>
            <p:ph type="body" idx="1"/>
          </p:nvPr>
        </p:nvSpPr>
        <p:spPr>
          <a:xfrm>
            <a:off x="747713" y="228600"/>
            <a:ext cx="10515600" cy="6329362"/>
          </a:xfrm>
        </p:spPr>
        <p:txBody>
          <a:bodyPr>
            <a:normAutofit/>
          </a:bodyPr>
          <a:lstStyle/>
          <a:p>
            <a:pPr marL="0" indent="0" eaLnBrk="1" hangingPunct="1">
              <a:lnSpc>
                <a:spcPct val="50000"/>
              </a:lnSpc>
              <a:buSzTx/>
              <a:buFont typeface="Arial" panose="020B0604020202020204" pitchFamily="34" charset="0"/>
              <a:buNone/>
            </a:pPr>
            <a:r>
              <a:rPr lang="en-US" altLang="en-US" sz="1700" b="1" dirty="0"/>
              <a:t>Purpose</a:t>
            </a:r>
            <a:r>
              <a:rPr lang="en-US" altLang="en-US" sz="1700" dirty="0"/>
              <a:t>:</a:t>
            </a:r>
          </a:p>
          <a:p>
            <a:pPr marL="0" indent="0" eaLnBrk="1" hangingPunct="1">
              <a:lnSpc>
                <a:spcPct val="50000"/>
              </a:lnSpc>
              <a:buSzTx/>
              <a:buFont typeface="Arial" panose="020B0604020202020204" pitchFamily="34" charset="0"/>
              <a:buNone/>
            </a:pPr>
            <a:r>
              <a:rPr lang="en-US" altLang="en-US" sz="1700" dirty="0"/>
              <a:t>Collect user input</a:t>
            </a:r>
          </a:p>
          <a:p>
            <a:pPr marL="0" indent="0" eaLnBrk="1" hangingPunct="1">
              <a:lnSpc>
                <a:spcPct val="50000"/>
              </a:lnSpc>
              <a:buSzTx/>
              <a:buFont typeface="Arial" panose="020B0604020202020204" pitchFamily="34" charset="0"/>
              <a:buNone/>
            </a:pPr>
            <a:r>
              <a:rPr lang="en-US" altLang="en-US" sz="1700" dirty="0"/>
              <a:t>Display stored learning items</a:t>
            </a:r>
          </a:p>
          <a:p>
            <a:pPr marL="0" indent="0" eaLnBrk="1" hangingPunct="1">
              <a:lnSpc>
                <a:spcPct val="50000"/>
              </a:lnSpc>
              <a:buSzTx/>
              <a:buFont typeface="Arial" panose="020B0604020202020204" pitchFamily="34" charset="0"/>
              <a:buNone/>
            </a:pPr>
            <a:r>
              <a:rPr lang="en-US" altLang="en-US" sz="1700" dirty="0"/>
              <a:t>Show reminders and notifications</a:t>
            </a:r>
          </a:p>
          <a:p>
            <a:pPr marL="0" indent="0" eaLnBrk="1" hangingPunct="1">
              <a:lnSpc>
                <a:spcPct val="50000"/>
              </a:lnSpc>
              <a:buSzTx/>
              <a:buFont typeface="Arial" panose="020B0604020202020204" pitchFamily="34" charset="0"/>
              <a:buNone/>
            </a:pPr>
            <a:endParaRPr lang="en-US" altLang="en-US" sz="1800" b="1" dirty="0"/>
          </a:p>
          <a:p>
            <a:pPr marL="0" indent="0" eaLnBrk="1" hangingPunct="1">
              <a:lnSpc>
                <a:spcPct val="50000"/>
              </a:lnSpc>
              <a:buSzTx/>
              <a:buFont typeface="Arial" panose="020B0604020202020204" pitchFamily="34" charset="0"/>
              <a:buNone/>
            </a:pPr>
            <a:r>
              <a:rPr lang="en-US" altLang="en-US" sz="2000" b="1" dirty="0"/>
              <a:t>3. Application Layer (System Logic – Future Implementation):</a:t>
            </a:r>
          </a:p>
          <a:p>
            <a:pPr marL="0" indent="0" eaLnBrk="1" hangingPunct="1">
              <a:lnSpc>
                <a:spcPct val="50000"/>
              </a:lnSpc>
              <a:buSzTx/>
              <a:buFont typeface="Arial" panose="020B0604020202020204" pitchFamily="34" charset="0"/>
              <a:buNone/>
            </a:pPr>
            <a:r>
              <a:rPr lang="en-US" altLang="en-US" sz="1800" dirty="0"/>
              <a:t>This layer will handle the processing and logic of the system.</a:t>
            </a:r>
          </a:p>
          <a:p>
            <a:pPr marL="0" indent="0" eaLnBrk="1" hangingPunct="1">
              <a:lnSpc>
                <a:spcPct val="50000"/>
              </a:lnSpc>
              <a:buSzTx/>
              <a:buFont typeface="Arial" panose="020B0604020202020204" pitchFamily="34" charset="0"/>
              <a:buNone/>
            </a:pPr>
            <a:r>
              <a:rPr lang="en-US" altLang="en-US" sz="1800" dirty="0"/>
              <a:t>Main functions:</a:t>
            </a:r>
          </a:p>
          <a:p>
            <a:pPr marL="0" indent="0" eaLnBrk="1" hangingPunct="1">
              <a:lnSpc>
                <a:spcPct val="50000"/>
              </a:lnSpc>
              <a:buSzTx/>
              <a:buFont typeface="Arial" panose="020B0604020202020204" pitchFamily="34" charset="0"/>
              <a:buNone/>
            </a:pPr>
            <a:r>
              <a:rPr lang="en-US" altLang="en-US" sz="1800" dirty="0"/>
              <a:t>Processing learning item submissions</a:t>
            </a:r>
          </a:p>
          <a:p>
            <a:pPr marL="0" indent="0" eaLnBrk="1" hangingPunct="1">
              <a:lnSpc>
                <a:spcPct val="50000"/>
              </a:lnSpc>
              <a:buSzTx/>
              <a:buFont typeface="Arial" panose="020B0604020202020204" pitchFamily="34" charset="0"/>
              <a:buNone/>
            </a:pPr>
            <a:r>
              <a:rPr lang="en-US" altLang="en-US" sz="1800" dirty="0"/>
              <a:t>Extracting metadata from links</a:t>
            </a:r>
          </a:p>
          <a:p>
            <a:pPr marL="0" indent="0" eaLnBrk="1" hangingPunct="1">
              <a:lnSpc>
                <a:spcPct val="50000"/>
              </a:lnSpc>
              <a:buSzTx/>
              <a:buFont typeface="Arial" panose="020B0604020202020204" pitchFamily="34" charset="0"/>
              <a:buNone/>
            </a:pPr>
            <a:r>
              <a:rPr lang="en-US" altLang="en-US" sz="1800" dirty="0"/>
              <a:t>Tracking user interactions</a:t>
            </a:r>
          </a:p>
          <a:p>
            <a:pPr marL="0" indent="0" eaLnBrk="1" hangingPunct="1">
              <a:lnSpc>
                <a:spcPct val="50000"/>
              </a:lnSpc>
              <a:buSzTx/>
              <a:buFont typeface="Arial" panose="020B0604020202020204" pitchFamily="34" charset="0"/>
              <a:buNone/>
            </a:pPr>
            <a:r>
              <a:rPr lang="en-US" altLang="en-US" sz="1800" dirty="0"/>
              <a:t>Managing reminder scheduling</a:t>
            </a:r>
          </a:p>
          <a:p>
            <a:pPr marL="0" indent="0" eaLnBrk="1" hangingPunct="1">
              <a:lnSpc>
                <a:spcPct val="100000"/>
              </a:lnSpc>
              <a:buSzTx/>
              <a:buFont typeface="Arial" panose="020B0604020202020204" pitchFamily="34" charset="0"/>
              <a:buNone/>
            </a:pPr>
            <a:r>
              <a:rPr lang="en-US" altLang="en-US" sz="2000" b="1" dirty="0"/>
              <a:t>4. Data Storage Layer (Database – Future)</a:t>
            </a:r>
          </a:p>
          <a:p>
            <a:pPr marL="0" indent="0" eaLnBrk="1" hangingPunct="1">
              <a:lnSpc>
                <a:spcPct val="50000"/>
              </a:lnSpc>
              <a:buSzTx/>
              <a:buFont typeface="Arial" panose="020B0604020202020204" pitchFamily="34" charset="0"/>
              <a:buNone/>
            </a:pPr>
            <a:r>
              <a:rPr lang="en-US" altLang="en-US" sz="1800" dirty="0"/>
              <a:t>This layer stores all system data.</a:t>
            </a:r>
          </a:p>
          <a:p>
            <a:pPr marL="0" indent="0" eaLnBrk="1" hangingPunct="1">
              <a:lnSpc>
                <a:spcPct val="50000"/>
              </a:lnSpc>
              <a:buSzTx/>
              <a:buFont typeface="Arial" panose="020B0604020202020204" pitchFamily="34" charset="0"/>
              <a:buNone/>
            </a:pPr>
            <a:r>
              <a:rPr lang="en-US" altLang="en-US" sz="1800" dirty="0"/>
              <a:t>Data stored includes:</a:t>
            </a:r>
          </a:p>
          <a:p>
            <a:pPr marL="0" indent="0" eaLnBrk="1" hangingPunct="1">
              <a:lnSpc>
                <a:spcPct val="50000"/>
              </a:lnSpc>
              <a:buSzTx/>
              <a:buFont typeface="Arial" panose="020B0604020202020204" pitchFamily="34" charset="0"/>
              <a:buNone/>
            </a:pPr>
            <a:r>
              <a:rPr lang="en-US" altLang="en-US" sz="1800" dirty="0"/>
              <a:t>User profile information</a:t>
            </a:r>
          </a:p>
          <a:p>
            <a:pPr marL="0" indent="0" eaLnBrk="1" hangingPunct="1">
              <a:lnSpc>
                <a:spcPct val="50000"/>
              </a:lnSpc>
              <a:buSzTx/>
              <a:buFont typeface="Arial" panose="020B0604020202020204" pitchFamily="34" charset="0"/>
              <a:buNone/>
            </a:pPr>
            <a:r>
              <a:rPr lang="en-US" altLang="en-US" sz="1800" dirty="0"/>
              <a:t>Saved learning resources</a:t>
            </a:r>
          </a:p>
          <a:p>
            <a:pPr marL="0" indent="0" eaLnBrk="1" hangingPunct="1">
              <a:lnSpc>
                <a:spcPct val="50000"/>
              </a:lnSpc>
              <a:buSzTx/>
              <a:buFont typeface="Arial" panose="020B0604020202020204" pitchFamily="34" charset="0"/>
              <a:buNone/>
            </a:pPr>
            <a:r>
              <a:rPr lang="en-US" altLang="en-US" sz="1800" dirty="0"/>
              <a:t>Reminder schedules</a:t>
            </a:r>
          </a:p>
          <a:p>
            <a:pPr marL="0" indent="0" eaLnBrk="1" hangingPunct="1">
              <a:lnSpc>
                <a:spcPct val="50000"/>
              </a:lnSpc>
              <a:buSzTx/>
              <a:buFont typeface="Arial" panose="020B0604020202020204" pitchFamily="34" charset="0"/>
              <a:buNone/>
            </a:pPr>
            <a:r>
              <a:rPr lang="en-US" altLang="en-US" sz="1800" dirty="0"/>
              <a:t>Interaction history</a:t>
            </a:r>
          </a:p>
          <a:p>
            <a:pPr marL="0" indent="0" eaLnBrk="1" hangingPunct="1">
              <a:lnSpc>
                <a:spcPct val="50000"/>
              </a:lnSpc>
              <a:buSzTx/>
              <a:buFont typeface="Arial" panose="020B0604020202020204" pitchFamily="34" charset="0"/>
              <a:buNone/>
            </a:pPr>
            <a:r>
              <a:rPr lang="en-US" altLang="en-US" sz="1800" dirty="0"/>
              <a:t>Purpose:</a:t>
            </a:r>
          </a:p>
          <a:p>
            <a:pPr marL="0" indent="0" eaLnBrk="1" hangingPunct="1">
              <a:lnSpc>
                <a:spcPct val="50000"/>
              </a:lnSpc>
              <a:buSzTx/>
              <a:buFont typeface="Arial" panose="020B0604020202020204" pitchFamily="34" charset="0"/>
              <a:buNone/>
            </a:pPr>
            <a:r>
              <a:rPr lang="en-US" altLang="en-US" sz="1800" dirty="0"/>
              <a:t>Maintain persistent records of learning items</a:t>
            </a:r>
          </a:p>
          <a:p>
            <a:pPr marL="0" indent="0" eaLnBrk="1" hangingPunct="1">
              <a:lnSpc>
                <a:spcPct val="50000"/>
              </a:lnSpc>
              <a:buSzTx/>
              <a:buFont typeface="Arial" panose="020B0604020202020204" pitchFamily="34" charset="0"/>
              <a:buNone/>
            </a:pPr>
            <a:r>
              <a:rPr lang="en-US" altLang="en-US" sz="1800" dirty="0"/>
              <a:t>Support retrieval and analysis of learning data</a:t>
            </a:r>
          </a:p>
        </p:txBody>
      </p:sp>
      <p:sp>
        <p:nvSpPr>
          <p:cNvPr id="15363" name="Google Shape;123;p15">
            <a:extLst>
              <a:ext uri="{FF2B5EF4-FFF2-40B4-BE49-F238E27FC236}">
                <a16:creationId xmlns:a16="http://schemas.microsoft.com/office/drawing/2014/main" id="{4C7069D6-7519-DDB7-B0C5-587343BB09F6}"/>
              </a:ext>
            </a:extLst>
          </p:cNvPr>
          <p:cNvSpPr>
            <a:spLocks noGrp="1" noChangeArrowheads="1"/>
          </p:cNvSpPr>
          <p:nvPr>
            <p:ph type="sldNum" sz="quarter" idx="10"/>
          </p:nvPr>
        </p:nvSpPr>
        <p:spPr>
          <a:xfrm>
            <a:off x="11974513" y="90488"/>
            <a:ext cx="188912" cy="263525"/>
          </a:xfrm>
          <a:noFill/>
        </p:spPr>
        <p:txBody>
          <a:bodyPr/>
          <a:lstStyle/>
          <a:p>
            <a:fld id="{547F8131-8990-41A2-8764-BA696144F637}" type="slidenum">
              <a:rPr lang="en-US" altLang="en-US"/>
              <a:pPr/>
              <a:t>15</a:t>
            </a:fld>
            <a:endParaRPr lang="en-US" altLang="en-US"/>
          </a:p>
        </p:txBody>
      </p:sp>
      <p:pic>
        <p:nvPicPr>
          <p:cNvPr id="15364" name="Google Shape;124;p15" descr="Google Shape;124;p15">
            <a:extLst>
              <a:ext uri="{FF2B5EF4-FFF2-40B4-BE49-F238E27FC236}">
                <a16:creationId xmlns:a16="http://schemas.microsoft.com/office/drawing/2014/main" id="{C077AAF1-3C30-73E5-8C27-8D02BD76F5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4490" r="14168" b="13802"/>
          <a:stretch>
            <a:fillRect/>
          </a:stretch>
        </p:blipFill>
        <p:spPr bwMode="auto">
          <a:xfrm>
            <a:off x="7710488" y="228600"/>
            <a:ext cx="3211512" cy="632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CF1EAC5-3453-E701-6149-CDD3DA0AC5B3}"/>
              </a:ext>
            </a:extLst>
          </p:cNvPr>
          <p:cNvSpPr>
            <a:spLocks noGrp="1"/>
          </p:cNvSpPr>
          <p:nvPr>
            <p:ph type="sldNum" idx="12"/>
          </p:nvPr>
        </p:nvSpPr>
        <p:spPr/>
        <p:txBody>
          <a:bodyPr/>
          <a:lstStyle/>
          <a:p>
            <a:fld id="{5E26E77A-D480-4BE7-A4B4-6411F80B0438}" type="slidenum">
              <a:rPr lang="en-US" altLang="en-US" smtClean="0"/>
              <a:pPr/>
              <a:t>16</a:t>
            </a:fld>
            <a:endParaRPr lang="en-US" altLang="en-US"/>
          </a:p>
        </p:txBody>
      </p:sp>
      <p:sp>
        <p:nvSpPr>
          <p:cNvPr id="2" name="Title 1">
            <a:extLst>
              <a:ext uri="{FF2B5EF4-FFF2-40B4-BE49-F238E27FC236}">
                <a16:creationId xmlns:a16="http://schemas.microsoft.com/office/drawing/2014/main" id="{B297D9FE-0292-EB52-4562-15808F2B183B}"/>
              </a:ext>
            </a:extLst>
          </p:cNvPr>
          <p:cNvSpPr>
            <a:spLocks noGrp="1"/>
          </p:cNvSpPr>
          <p:nvPr>
            <p:ph type="title" idx="4294967295"/>
          </p:nvPr>
        </p:nvSpPr>
        <p:spPr>
          <a:xfrm>
            <a:off x="277402" y="365125"/>
            <a:ext cx="10515600" cy="1325563"/>
          </a:xfrm>
        </p:spPr>
        <p:txBody>
          <a:bodyPr/>
          <a:lstStyle/>
          <a:p>
            <a:r>
              <a:rPr lang="en-US" b="1" dirty="0"/>
              <a:t>Use Case Diagram</a:t>
            </a:r>
            <a:endParaRPr lang="en-IN" dirty="0"/>
          </a:p>
        </p:txBody>
      </p:sp>
      <p:sp>
        <p:nvSpPr>
          <p:cNvPr id="3" name="Text Placeholder 2">
            <a:extLst>
              <a:ext uri="{FF2B5EF4-FFF2-40B4-BE49-F238E27FC236}">
                <a16:creationId xmlns:a16="http://schemas.microsoft.com/office/drawing/2014/main" id="{49C00FB0-7F05-1116-7DB4-1D4BA91A237F}"/>
              </a:ext>
            </a:extLst>
          </p:cNvPr>
          <p:cNvSpPr>
            <a:spLocks noGrp="1"/>
          </p:cNvSpPr>
          <p:nvPr>
            <p:ph type="body" idx="4294967295"/>
          </p:nvPr>
        </p:nvSpPr>
        <p:spPr>
          <a:xfrm>
            <a:off x="277401" y="1417835"/>
            <a:ext cx="10993349" cy="5178174"/>
          </a:xfrm>
        </p:spPr>
        <p:txBody>
          <a:bodyPr>
            <a:normAutofit fontScale="70000" lnSpcReduction="20000"/>
          </a:bodyPr>
          <a:lstStyle/>
          <a:p>
            <a:r>
              <a:rPr lang="en-US" dirty="0"/>
              <a:t>The Use Case Diagram illustrates how the user interacts with the Learning Reflection Platform and the main services provided by the system.</a:t>
            </a:r>
          </a:p>
          <a:p>
            <a:r>
              <a:rPr lang="en-US" dirty="0"/>
              <a:t>In this system, the </a:t>
            </a:r>
            <a:r>
              <a:rPr lang="en-US" b="1" dirty="0"/>
              <a:t>User</a:t>
            </a:r>
            <a:r>
              <a:rPr lang="en-US" dirty="0"/>
              <a:t> is the primary actor who interacts with the platform to manage learning resources and track learning progress. The user can create an account and log in to access the system.</a:t>
            </a:r>
          </a:p>
          <a:p>
            <a:r>
              <a:rPr lang="en-US" dirty="0"/>
              <a:t>Once logged in, the user can </a:t>
            </a:r>
            <a:r>
              <a:rPr lang="en-US" b="1" dirty="0"/>
              <a:t>add learning items by submitting resource links</a:t>
            </a:r>
            <a:r>
              <a:rPr lang="en-US" dirty="0"/>
              <a:t>, which represent concepts or topics they want to understand later. The system can automatically </a:t>
            </a:r>
            <a:r>
              <a:rPr lang="en-US" b="1" dirty="0"/>
              <a:t>extract metadata from the link</a:t>
            </a:r>
            <a:r>
              <a:rPr lang="en-US" dirty="0"/>
              <a:t>, such as the title of the resource.</a:t>
            </a:r>
          </a:p>
          <a:p>
            <a:r>
              <a:rPr lang="en-US" dirty="0"/>
              <a:t>Users can </a:t>
            </a:r>
            <a:r>
              <a:rPr lang="en-US" b="1" dirty="0"/>
              <a:t>view their saved learning items</a:t>
            </a:r>
            <a:r>
              <a:rPr lang="en-US" dirty="0"/>
              <a:t>, open the learning resources directly from the platform, and manage their learning progress by setting the </a:t>
            </a:r>
            <a:r>
              <a:rPr lang="en-US" b="1" dirty="0"/>
              <a:t>clarity level, priority level, and readiness date</a:t>
            </a:r>
            <a:r>
              <a:rPr lang="en-US" dirty="0"/>
              <a:t> for each item.</a:t>
            </a:r>
          </a:p>
          <a:p>
            <a:r>
              <a:rPr lang="en-US" dirty="0"/>
              <a:t>The system also supports </a:t>
            </a:r>
            <a:r>
              <a:rPr lang="en-US" b="1" dirty="0"/>
              <a:t>interaction tracking</a:t>
            </a:r>
            <a:r>
              <a:rPr lang="en-US" dirty="0"/>
              <a:t>, where it records when a learning resource is opened. Based on the readiness dates and system conditions, the platform generates </a:t>
            </a:r>
            <a:r>
              <a:rPr lang="en-US" b="1" dirty="0"/>
              <a:t>reminders and notifications</a:t>
            </a:r>
            <a:r>
              <a:rPr lang="en-US" dirty="0"/>
              <a:t> to encourage users to revisit learning items.</a:t>
            </a:r>
          </a:p>
          <a:p>
            <a:r>
              <a:rPr lang="en-US" dirty="0"/>
              <a:t>Additionally, users can access the </a:t>
            </a:r>
            <a:r>
              <a:rPr lang="en-US" b="1" dirty="0"/>
              <a:t>dashboard</a:t>
            </a:r>
            <a:r>
              <a:rPr lang="en-US" dirty="0"/>
              <a:t>, which provides an overview of their learning activities and saved resources.</a:t>
            </a:r>
          </a:p>
          <a:p>
            <a:r>
              <a:rPr lang="en-US" dirty="0"/>
              <a:t>The Use Case Diagram helps provide a clear overview of the major interactions between the user and the system.</a:t>
            </a:r>
          </a:p>
        </p:txBody>
      </p:sp>
    </p:spTree>
    <p:extLst>
      <p:ext uri="{BB962C8B-B14F-4D97-AF65-F5344CB8AC3E}">
        <p14:creationId xmlns:p14="http://schemas.microsoft.com/office/powerpoint/2010/main" val="3058988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C388E58-1C28-5662-C1A7-CB1888CA93E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pic>
        <p:nvPicPr>
          <p:cNvPr id="4" name="Picture 3">
            <a:extLst>
              <a:ext uri="{FF2B5EF4-FFF2-40B4-BE49-F238E27FC236}">
                <a16:creationId xmlns:a16="http://schemas.microsoft.com/office/drawing/2014/main" id="{6D4077C3-3187-A9FD-EE7C-CB920DB8E296}"/>
              </a:ext>
            </a:extLst>
          </p:cNvPr>
          <p:cNvPicPr>
            <a:picLocks noChangeAspect="1"/>
          </p:cNvPicPr>
          <p:nvPr/>
        </p:nvPicPr>
        <p:blipFill>
          <a:blip r:embed="rId2"/>
          <a:srcRect b="14411"/>
          <a:stretch>
            <a:fillRect/>
          </a:stretch>
        </p:blipFill>
        <p:spPr>
          <a:xfrm>
            <a:off x="273050" y="935581"/>
            <a:ext cx="11049000" cy="5810157"/>
          </a:xfrm>
          <a:prstGeom prst="rect">
            <a:avLst/>
          </a:prstGeom>
        </p:spPr>
      </p:pic>
      <p:sp>
        <p:nvSpPr>
          <p:cNvPr id="5" name="TextBox 4">
            <a:extLst>
              <a:ext uri="{FF2B5EF4-FFF2-40B4-BE49-F238E27FC236}">
                <a16:creationId xmlns:a16="http://schemas.microsoft.com/office/drawing/2014/main" id="{E8A81E68-7F66-3B70-BA0E-3FF61B0701AF}"/>
              </a:ext>
            </a:extLst>
          </p:cNvPr>
          <p:cNvSpPr txBox="1"/>
          <p:nvPr/>
        </p:nvSpPr>
        <p:spPr>
          <a:xfrm>
            <a:off x="273050" y="112262"/>
            <a:ext cx="10452100" cy="584775"/>
          </a:xfrm>
          <a:prstGeom prst="rect">
            <a:avLst/>
          </a:prstGeom>
          <a:noFill/>
        </p:spPr>
        <p:txBody>
          <a:bodyPr wrap="square" rtlCol="0">
            <a:spAutoFit/>
          </a:bodyPr>
          <a:lstStyle/>
          <a:p>
            <a:r>
              <a:rPr lang="en-IN" sz="3200" b="1" dirty="0"/>
              <a:t>Learning Reflection Platform Use Case Diagram</a:t>
            </a:r>
          </a:p>
        </p:txBody>
      </p:sp>
    </p:spTree>
    <p:extLst>
      <p:ext uri="{BB962C8B-B14F-4D97-AF65-F5344CB8AC3E}">
        <p14:creationId xmlns:p14="http://schemas.microsoft.com/office/powerpoint/2010/main" val="26577466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BC8704-3EAE-CBB5-F8D8-13419B48656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
        <p:nvSpPr>
          <p:cNvPr id="3" name="TextBox 2">
            <a:extLst>
              <a:ext uri="{FF2B5EF4-FFF2-40B4-BE49-F238E27FC236}">
                <a16:creationId xmlns:a16="http://schemas.microsoft.com/office/drawing/2014/main" id="{7D4515F7-6254-7E29-A62B-94305E3ACCD9}"/>
              </a:ext>
            </a:extLst>
          </p:cNvPr>
          <p:cNvSpPr txBox="1"/>
          <p:nvPr/>
        </p:nvSpPr>
        <p:spPr>
          <a:xfrm>
            <a:off x="199292" y="175846"/>
            <a:ext cx="11230708" cy="523220"/>
          </a:xfrm>
          <a:prstGeom prst="rect">
            <a:avLst/>
          </a:prstGeom>
          <a:noFill/>
        </p:spPr>
        <p:txBody>
          <a:bodyPr wrap="square" rtlCol="0">
            <a:spAutoFit/>
          </a:bodyPr>
          <a:lstStyle/>
          <a:p>
            <a:r>
              <a:rPr lang="en-US" sz="2800" b="1" dirty="0"/>
              <a:t>Activity Diagram (for adding learning items) :</a:t>
            </a:r>
          </a:p>
        </p:txBody>
      </p:sp>
      <p:pic>
        <p:nvPicPr>
          <p:cNvPr id="5" name="Picture 4">
            <a:extLst>
              <a:ext uri="{FF2B5EF4-FFF2-40B4-BE49-F238E27FC236}">
                <a16:creationId xmlns:a16="http://schemas.microsoft.com/office/drawing/2014/main" id="{5A1920E9-EC39-0589-2D55-9285AD90C779}"/>
              </a:ext>
            </a:extLst>
          </p:cNvPr>
          <p:cNvPicPr>
            <a:picLocks noChangeAspect="1"/>
          </p:cNvPicPr>
          <p:nvPr/>
        </p:nvPicPr>
        <p:blipFill>
          <a:blip r:embed="rId2"/>
          <a:srcRect l="11539" r="4454"/>
          <a:stretch>
            <a:fillRect/>
          </a:stretch>
        </p:blipFill>
        <p:spPr>
          <a:xfrm>
            <a:off x="3682757" y="1086172"/>
            <a:ext cx="4263777" cy="5771828"/>
          </a:xfrm>
          <a:prstGeom prst="rect">
            <a:avLst/>
          </a:prstGeom>
        </p:spPr>
      </p:pic>
    </p:spTree>
    <p:extLst>
      <p:ext uri="{BB962C8B-B14F-4D97-AF65-F5344CB8AC3E}">
        <p14:creationId xmlns:p14="http://schemas.microsoft.com/office/powerpoint/2010/main" val="39705755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Google Shape;130;p16">
            <a:extLst>
              <a:ext uri="{FF2B5EF4-FFF2-40B4-BE49-F238E27FC236}">
                <a16:creationId xmlns:a16="http://schemas.microsoft.com/office/drawing/2014/main" id="{DAF32932-01A3-8AB9-5362-F6C484D014D4}"/>
              </a:ext>
            </a:extLst>
          </p:cNvPr>
          <p:cNvSpPr>
            <a:spLocks noGrp="1" noChangeArrowheads="1"/>
          </p:cNvSpPr>
          <p:nvPr>
            <p:ph type="sldNum" sz="quarter" idx="10"/>
          </p:nvPr>
        </p:nvSpPr>
        <p:spPr>
          <a:xfrm>
            <a:off x="11974513" y="90488"/>
            <a:ext cx="188912" cy="263525"/>
          </a:xfrm>
          <a:noFill/>
        </p:spPr>
        <p:txBody>
          <a:bodyPr/>
          <a:lstStyle/>
          <a:p>
            <a:fld id="{4E7AEC33-8CAE-4E5C-8EA5-7E48D5474B9D}" type="slidenum">
              <a:rPr lang="en-US" altLang="en-US"/>
              <a:pPr/>
              <a:t>19</a:t>
            </a:fld>
            <a:endParaRPr lang="en-US" altLang="en-US"/>
          </a:p>
        </p:txBody>
      </p:sp>
      <p:pic>
        <p:nvPicPr>
          <p:cNvPr id="16387" name="Google Shape;131;p16" descr="Google Shape;131;p16">
            <a:extLst>
              <a:ext uri="{FF2B5EF4-FFF2-40B4-BE49-F238E27FC236}">
                <a16:creationId xmlns:a16="http://schemas.microsoft.com/office/drawing/2014/main" id="{7F23FD96-BC07-FE2E-6E4E-67578F90470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684" t="5566" r="11387" b="18172"/>
          <a:stretch>
            <a:fillRect/>
          </a:stretch>
        </p:blipFill>
        <p:spPr bwMode="auto">
          <a:xfrm>
            <a:off x="3223828" y="922426"/>
            <a:ext cx="4892756" cy="5836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16388" name="Google Shape;132;p16">
            <a:extLst>
              <a:ext uri="{FF2B5EF4-FFF2-40B4-BE49-F238E27FC236}">
                <a16:creationId xmlns:a16="http://schemas.microsoft.com/office/drawing/2014/main" id="{62EC0840-3B01-ED2E-BE08-75CF1AB2DBFF}"/>
              </a:ext>
            </a:extLst>
          </p:cNvPr>
          <p:cNvSpPr txBox="1">
            <a:spLocks noChangeArrowheads="1"/>
          </p:cNvSpPr>
          <p:nvPr/>
        </p:nvSpPr>
        <p:spPr bwMode="auto">
          <a:xfrm>
            <a:off x="325669" y="222250"/>
            <a:ext cx="10450513" cy="615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91424" tIns="91424" rIns="91424" bIns="91424">
            <a:spAutoFit/>
          </a:bodyPr>
          <a:lstStyle/>
          <a:p>
            <a:pPr eaLnBrk="1"/>
            <a:r>
              <a:rPr lang="en-US" altLang="en-US" sz="2800" b="1" dirty="0"/>
              <a:t>Activity Diagram(for Reminder Notification)</a:t>
            </a:r>
          </a:p>
        </p:txBody>
      </p:sp>
    </p:spTree>
  </p:cSld>
  <p:clrMapOvr>
    <a:masterClrMapping/>
  </p:clrMapOvr>
  <p:transition spd="med"/>
</p:sld>
</file>

<file path=ppt/theme/theme1.xml><?xml version="1.0" encoding="utf-8"?>
<a:theme xmlns:a="http://schemas.openxmlformats.org/drawingml/2006/main" name="Office Theme">
  <a:themeElements>
    <a:clrScheme name="Custom 5">
      <a:dk1>
        <a:srgbClr val="000000"/>
      </a:dk1>
      <a:lt1>
        <a:srgbClr val="FFFFFF"/>
      </a:lt1>
      <a:dk2>
        <a:srgbClr val="293786"/>
      </a:dk2>
      <a:lt2>
        <a:srgbClr val="A21D2E"/>
      </a:lt2>
      <a:accent1>
        <a:srgbClr val="A6AFE4"/>
      </a:accent1>
      <a:accent2>
        <a:srgbClr val="F4BEC4"/>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TotalTime>
  <Words>1289</Words>
  <Application>Microsoft Office PowerPoint</Application>
  <PresentationFormat>Widescreen</PresentationFormat>
  <Paragraphs>162</Paragraphs>
  <Slides>19</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Zilla Slab</vt:lpstr>
      <vt:lpstr>Calibri</vt:lpstr>
      <vt:lpstr>Arial</vt:lpstr>
      <vt:lpstr>Office Theme</vt:lpstr>
      <vt:lpstr>Learning Reflection Platform</vt:lpstr>
      <vt:lpstr>Module Details</vt:lpstr>
      <vt:lpstr>PowerPoint Presentation</vt:lpstr>
      <vt:lpstr>PowerPoint Presentation</vt:lpstr>
      <vt:lpstr>Workflow (Team Progress)</vt:lpstr>
      <vt:lpstr>Workflow (Team Progress)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model</vt:lpstr>
      <vt:lpstr>PowerPoint Presentation</vt:lpstr>
      <vt:lpstr>Use Case Diagram</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Mona Bhattacharya</dc:creator>
  <cp:lastModifiedBy>Amita Kumari</cp:lastModifiedBy>
  <cp:revision>10</cp:revision>
  <dcterms:modified xsi:type="dcterms:W3CDTF">2026-03-13T03:01:10Z</dcterms:modified>
</cp:coreProperties>
</file>